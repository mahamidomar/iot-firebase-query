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1" r:id="rId4"/>
    <p:sldId id="262" r:id="rId5"/>
    <p:sldId id="263" r:id="rId6"/>
    <p:sldId id="260" r:id="rId7"/>
    <p:sldId id="259" r:id="rId8"/>
    <p:sldId id="264" r:id="rId9"/>
    <p:sldId id="258" r:id="rId10"/>
    <p:sldId id="265" r:id="rId11"/>
    <p:sldId id="266" r:id="rId12"/>
    <p:sldId id="267" r:id="rId13"/>
    <p:sldId id="271" r:id="rId14"/>
    <p:sldId id="268" r:id="rId15"/>
    <p:sldId id="269" r:id="rId16"/>
    <p:sldId id="270" r:id="rId17"/>
  </p:sldIdLst>
  <p:sldSz cx="12192000" cy="6858000"/>
  <p:notesSz cx="6858000" cy="9144000"/>
  <p:defaultText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0" d="100"/>
          <a:sy n="60" d="100"/>
        </p:scale>
        <p:origin x="916" y="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8A42D-98F2-BA1A-5FD3-077D3CF5915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he-IL"/>
          </a:p>
        </p:txBody>
      </p:sp>
      <p:sp>
        <p:nvSpPr>
          <p:cNvPr id="3" name="Subtitle 2">
            <a:extLst>
              <a:ext uri="{FF2B5EF4-FFF2-40B4-BE49-F238E27FC236}">
                <a16:creationId xmlns:a16="http://schemas.microsoft.com/office/drawing/2014/main" id="{9388BBB5-960F-84E8-A842-F6A6B713CD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he-IL"/>
          </a:p>
        </p:txBody>
      </p:sp>
      <p:sp>
        <p:nvSpPr>
          <p:cNvPr id="4" name="Date Placeholder 3">
            <a:extLst>
              <a:ext uri="{FF2B5EF4-FFF2-40B4-BE49-F238E27FC236}">
                <a16:creationId xmlns:a16="http://schemas.microsoft.com/office/drawing/2014/main" id="{76B6A852-143C-A5A6-101D-625C2F22E76F}"/>
              </a:ext>
            </a:extLst>
          </p:cNvPr>
          <p:cNvSpPr>
            <a:spLocks noGrp="1"/>
          </p:cNvSpPr>
          <p:nvPr>
            <p:ph type="dt" sz="half" idx="10"/>
          </p:nvPr>
        </p:nvSpPr>
        <p:spPr/>
        <p:txBody>
          <a:bodyPr/>
          <a:lstStyle/>
          <a:p>
            <a:fld id="{14BF807C-F4A9-4470-B6CF-4C2287F482FA}" type="datetimeFigureOut">
              <a:rPr lang="he-IL" smtClean="0"/>
              <a:t>י"ב/אדר/תשפ"ו</a:t>
            </a:fld>
            <a:endParaRPr lang="he-IL"/>
          </a:p>
        </p:txBody>
      </p:sp>
      <p:sp>
        <p:nvSpPr>
          <p:cNvPr id="5" name="Footer Placeholder 4">
            <a:extLst>
              <a:ext uri="{FF2B5EF4-FFF2-40B4-BE49-F238E27FC236}">
                <a16:creationId xmlns:a16="http://schemas.microsoft.com/office/drawing/2014/main" id="{B634EC75-CCB7-77DB-B543-7C2E738AB1E6}"/>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457C80E0-C76E-B611-FCB6-78612D661E22}"/>
              </a:ext>
            </a:extLst>
          </p:cNvPr>
          <p:cNvSpPr>
            <a:spLocks noGrp="1"/>
          </p:cNvSpPr>
          <p:nvPr>
            <p:ph type="sldNum" sz="quarter" idx="12"/>
          </p:nvPr>
        </p:nvSpPr>
        <p:spPr/>
        <p:txBody>
          <a:bodyPr/>
          <a:lstStyle/>
          <a:p>
            <a:fld id="{C9DE8896-049D-4AAA-90B8-2FA0E12A4084}" type="slidenum">
              <a:rPr lang="he-IL" smtClean="0"/>
              <a:t>‹#›</a:t>
            </a:fld>
            <a:endParaRPr lang="he-IL"/>
          </a:p>
        </p:txBody>
      </p:sp>
    </p:spTree>
    <p:extLst>
      <p:ext uri="{BB962C8B-B14F-4D97-AF65-F5344CB8AC3E}">
        <p14:creationId xmlns:p14="http://schemas.microsoft.com/office/powerpoint/2010/main" val="33043485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B4799-EC99-1934-427D-67103AA2B7CD}"/>
              </a:ext>
            </a:extLst>
          </p:cNvPr>
          <p:cNvSpPr>
            <a:spLocks noGrp="1"/>
          </p:cNvSpPr>
          <p:nvPr>
            <p:ph type="title"/>
          </p:nvPr>
        </p:nvSpPr>
        <p:spPr/>
        <p:txBody>
          <a:bodyPr/>
          <a:lstStyle/>
          <a:p>
            <a:r>
              <a:rPr lang="en-US"/>
              <a:t>Click to edit Master title style</a:t>
            </a:r>
            <a:endParaRPr lang="he-IL"/>
          </a:p>
        </p:txBody>
      </p:sp>
      <p:sp>
        <p:nvSpPr>
          <p:cNvPr id="3" name="Content Placeholder 2">
            <a:extLst>
              <a:ext uri="{FF2B5EF4-FFF2-40B4-BE49-F238E27FC236}">
                <a16:creationId xmlns:a16="http://schemas.microsoft.com/office/drawing/2014/main" id="{760D5C13-D00C-5F60-ABAE-5A216450194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E8EF00C8-1A90-39E1-E351-8A70713D6EA6}"/>
              </a:ext>
            </a:extLst>
          </p:cNvPr>
          <p:cNvSpPr>
            <a:spLocks noGrp="1"/>
          </p:cNvSpPr>
          <p:nvPr>
            <p:ph type="dt" sz="half" idx="10"/>
          </p:nvPr>
        </p:nvSpPr>
        <p:spPr/>
        <p:txBody>
          <a:bodyPr/>
          <a:lstStyle/>
          <a:p>
            <a:fld id="{14BF807C-F4A9-4470-B6CF-4C2287F482FA}" type="datetimeFigureOut">
              <a:rPr lang="he-IL" smtClean="0"/>
              <a:t>י"ב/אדר/תשפ"ו</a:t>
            </a:fld>
            <a:endParaRPr lang="he-IL"/>
          </a:p>
        </p:txBody>
      </p:sp>
      <p:sp>
        <p:nvSpPr>
          <p:cNvPr id="5" name="Footer Placeholder 4">
            <a:extLst>
              <a:ext uri="{FF2B5EF4-FFF2-40B4-BE49-F238E27FC236}">
                <a16:creationId xmlns:a16="http://schemas.microsoft.com/office/drawing/2014/main" id="{9DB274B9-AA42-E6D3-3DB2-473FD3771D55}"/>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DEBF0D04-139A-8E84-6441-D529C2EFA42C}"/>
              </a:ext>
            </a:extLst>
          </p:cNvPr>
          <p:cNvSpPr>
            <a:spLocks noGrp="1"/>
          </p:cNvSpPr>
          <p:nvPr>
            <p:ph type="sldNum" sz="quarter" idx="12"/>
          </p:nvPr>
        </p:nvSpPr>
        <p:spPr/>
        <p:txBody>
          <a:bodyPr/>
          <a:lstStyle/>
          <a:p>
            <a:fld id="{C9DE8896-049D-4AAA-90B8-2FA0E12A4084}" type="slidenum">
              <a:rPr lang="he-IL" smtClean="0"/>
              <a:t>‹#›</a:t>
            </a:fld>
            <a:endParaRPr lang="he-IL"/>
          </a:p>
        </p:txBody>
      </p:sp>
    </p:spTree>
    <p:extLst>
      <p:ext uri="{BB962C8B-B14F-4D97-AF65-F5344CB8AC3E}">
        <p14:creationId xmlns:p14="http://schemas.microsoft.com/office/powerpoint/2010/main" val="24742918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8B518-7C49-695F-B5B1-3FAFA05F6E1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he-IL"/>
          </a:p>
        </p:txBody>
      </p:sp>
      <p:sp>
        <p:nvSpPr>
          <p:cNvPr id="3" name="Text Placeholder 2">
            <a:extLst>
              <a:ext uri="{FF2B5EF4-FFF2-40B4-BE49-F238E27FC236}">
                <a16:creationId xmlns:a16="http://schemas.microsoft.com/office/drawing/2014/main" id="{D3A490D1-023B-B9CE-6DAC-122D82999E5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85757DD-4189-3B41-9216-FF1BF354844C}"/>
              </a:ext>
            </a:extLst>
          </p:cNvPr>
          <p:cNvSpPr>
            <a:spLocks noGrp="1"/>
          </p:cNvSpPr>
          <p:nvPr>
            <p:ph type="dt" sz="half" idx="10"/>
          </p:nvPr>
        </p:nvSpPr>
        <p:spPr/>
        <p:txBody>
          <a:bodyPr/>
          <a:lstStyle/>
          <a:p>
            <a:fld id="{14BF807C-F4A9-4470-B6CF-4C2287F482FA}" type="datetimeFigureOut">
              <a:rPr lang="he-IL" smtClean="0"/>
              <a:t>י"ב/אדר/תשפ"ו</a:t>
            </a:fld>
            <a:endParaRPr lang="he-IL"/>
          </a:p>
        </p:txBody>
      </p:sp>
      <p:sp>
        <p:nvSpPr>
          <p:cNvPr id="5" name="Footer Placeholder 4">
            <a:extLst>
              <a:ext uri="{FF2B5EF4-FFF2-40B4-BE49-F238E27FC236}">
                <a16:creationId xmlns:a16="http://schemas.microsoft.com/office/drawing/2014/main" id="{6098009D-3DDF-D471-0AE4-56880453D2DF}"/>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EF041050-2AC6-F1D2-02AE-E057BD1AD894}"/>
              </a:ext>
            </a:extLst>
          </p:cNvPr>
          <p:cNvSpPr>
            <a:spLocks noGrp="1"/>
          </p:cNvSpPr>
          <p:nvPr>
            <p:ph type="sldNum" sz="quarter" idx="12"/>
          </p:nvPr>
        </p:nvSpPr>
        <p:spPr/>
        <p:txBody>
          <a:bodyPr/>
          <a:lstStyle/>
          <a:p>
            <a:fld id="{C9DE8896-049D-4AAA-90B8-2FA0E12A4084}" type="slidenum">
              <a:rPr lang="he-IL" smtClean="0"/>
              <a:t>‹#›</a:t>
            </a:fld>
            <a:endParaRPr lang="he-IL"/>
          </a:p>
        </p:txBody>
      </p:sp>
    </p:spTree>
    <p:extLst>
      <p:ext uri="{BB962C8B-B14F-4D97-AF65-F5344CB8AC3E}">
        <p14:creationId xmlns:p14="http://schemas.microsoft.com/office/powerpoint/2010/main" val="32268595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5041B-6311-A46A-6E47-B722478DE467}"/>
              </a:ext>
            </a:extLst>
          </p:cNvPr>
          <p:cNvSpPr>
            <a:spLocks noGrp="1"/>
          </p:cNvSpPr>
          <p:nvPr>
            <p:ph type="title"/>
          </p:nvPr>
        </p:nvSpPr>
        <p:spPr/>
        <p:txBody>
          <a:bodyPr/>
          <a:lstStyle/>
          <a:p>
            <a:r>
              <a:rPr lang="en-US"/>
              <a:t>Click to edit Master title style</a:t>
            </a:r>
            <a:endParaRPr lang="he-IL"/>
          </a:p>
        </p:txBody>
      </p:sp>
      <p:sp>
        <p:nvSpPr>
          <p:cNvPr id="3" name="Content Placeholder 2">
            <a:extLst>
              <a:ext uri="{FF2B5EF4-FFF2-40B4-BE49-F238E27FC236}">
                <a16:creationId xmlns:a16="http://schemas.microsoft.com/office/drawing/2014/main" id="{840A1EDA-2049-239A-702A-38C53C9FF02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Content Placeholder 3">
            <a:extLst>
              <a:ext uri="{FF2B5EF4-FFF2-40B4-BE49-F238E27FC236}">
                <a16:creationId xmlns:a16="http://schemas.microsoft.com/office/drawing/2014/main" id="{F8BA8D65-8F47-F811-6515-0F64DFDDA07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Date Placeholder 4">
            <a:extLst>
              <a:ext uri="{FF2B5EF4-FFF2-40B4-BE49-F238E27FC236}">
                <a16:creationId xmlns:a16="http://schemas.microsoft.com/office/drawing/2014/main" id="{214479EF-411F-44F2-2529-87DD60503F1E}"/>
              </a:ext>
            </a:extLst>
          </p:cNvPr>
          <p:cNvSpPr>
            <a:spLocks noGrp="1"/>
          </p:cNvSpPr>
          <p:nvPr>
            <p:ph type="dt" sz="half" idx="10"/>
          </p:nvPr>
        </p:nvSpPr>
        <p:spPr/>
        <p:txBody>
          <a:bodyPr/>
          <a:lstStyle/>
          <a:p>
            <a:fld id="{14BF807C-F4A9-4470-B6CF-4C2287F482FA}" type="datetimeFigureOut">
              <a:rPr lang="he-IL" smtClean="0"/>
              <a:t>י"ב/אדר/תשפ"ו</a:t>
            </a:fld>
            <a:endParaRPr lang="he-IL"/>
          </a:p>
        </p:txBody>
      </p:sp>
      <p:sp>
        <p:nvSpPr>
          <p:cNvPr id="6" name="Footer Placeholder 5">
            <a:extLst>
              <a:ext uri="{FF2B5EF4-FFF2-40B4-BE49-F238E27FC236}">
                <a16:creationId xmlns:a16="http://schemas.microsoft.com/office/drawing/2014/main" id="{C5B5CAED-ACFC-FA2B-E44C-E406A9080953}"/>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14D11BDE-2325-15F1-BB75-3D15AB3D4531}"/>
              </a:ext>
            </a:extLst>
          </p:cNvPr>
          <p:cNvSpPr>
            <a:spLocks noGrp="1"/>
          </p:cNvSpPr>
          <p:nvPr>
            <p:ph type="sldNum" sz="quarter" idx="12"/>
          </p:nvPr>
        </p:nvSpPr>
        <p:spPr/>
        <p:txBody>
          <a:bodyPr/>
          <a:lstStyle/>
          <a:p>
            <a:fld id="{C9DE8896-049D-4AAA-90B8-2FA0E12A4084}" type="slidenum">
              <a:rPr lang="he-IL" smtClean="0"/>
              <a:t>‹#›</a:t>
            </a:fld>
            <a:endParaRPr lang="he-IL"/>
          </a:p>
        </p:txBody>
      </p:sp>
    </p:spTree>
    <p:extLst>
      <p:ext uri="{BB962C8B-B14F-4D97-AF65-F5344CB8AC3E}">
        <p14:creationId xmlns:p14="http://schemas.microsoft.com/office/powerpoint/2010/main" val="42041833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F4445-CFE8-9F71-3C0B-21EE3D055DF4}"/>
              </a:ext>
            </a:extLst>
          </p:cNvPr>
          <p:cNvSpPr>
            <a:spLocks noGrp="1"/>
          </p:cNvSpPr>
          <p:nvPr>
            <p:ph type="title"/>
          </p:nvPr>
        </p:nvSpPr>
        <p:spPr>
          <a:xfrm>
            <a:off x="839788" y="365125"/>
            <a:ext cx="10515600" cy="1325563"/>
          </a:xfrm>
        </p:spPr>
        <p:txBody>
          <a:bodyPr/>
          <a:lstStyle/>
          <a:p>
            <a:r>
              <a:rPr lang="en-US"/>
              <a:t>Click to edit Master title style</a:t>
            </a:r>
            <a:endParaRPr lang="he-IL"/>
          </a:p>
        </p:txBody>
      </p:sp>
      <p:sp>
        <p:nvSpPr>
          <p:cNvPr id="3" name="Text Placeholder 2">
            <a:extLst>
              <a:ext uri="{FF2B5EF4-FFF2-40B4-BE49-F238E27FC236}">
                <a16:creationId xmlns:a16="http://schemas.microsoft.com/office/drawing/2014/main" id="{2CCF559B-5A67-04FA-4839-1AE05D6AAA7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7DCDAA1-DDB7-CF02-4A3E-A4CAED0BB97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Text Placeholder 4">
            <a:extLst>
              <a:ext uri="{FF2B5EF4-FFF2-40B4-BE49-F238E27FC236}">
                <a16:creationId xmlns:a16="http://schemas.microsoft.com/office/drawing/2014/main" id="{34C4C648-4DC7-4A0D-53A7-20C403D17B1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75B530A-8204-B2F0-CF11-25D5F5DE3C2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7" name="Date Placeholder 6">
            <a:extLst>
              <a:ext uri="{FF2B5EF4-FFF2-40B4-BE49-F238E27FC236}">
                <a16:creationId xmlns:a16="http://schemas.microsoft.com/office/drawing/2014/main" id="{0113A714-B325-8E59-D330-C1DE8CCD4B0A}"/>
              </a:ext>
            </a:extLst>
          </p:cNvPr>
          <p:cNvSpPr>
            <a:spLocks noGrp="1"/>
          </p:cNvSpPr>
          <p:nvPr>
            <p:ph type="dt" sz="half" idx="10"/>
          </p:nvPr>
        </p:nvSpPr>
        <p:spPr/>
        <p:txBody>
          <a:bodyPr/>
          <a:lstStyle/>
          <a:p>
            <a:fld id="{14BF807C-F4A9-4470-B6CF-4C2287F482FA}" type="datetimeFigureOut">
              <a:rPr lang="he-IL" smtClean="0"/>
              <a:t>י"ב/אדר/תשפ"ו</a:t>
            </a:fld>
            <a:endParaRPr lang="he-IL"/>
          </a:p>
        </p:txBody>
      </p:sp>
      <p:sp>
        <p:nvSpPr>
          <p:cNvPr id="8" name="Footer Placeholder 7">
            <a:extLst>
              <a:ext uri="{FF2B5EF4-FFF2-40B4-BE49-F238E27FC236}">
                <a16:creationId xmlns:a16="http://schemas.microsoft.com/office/drawing/2014/main" id="{28E58776-F795-BF14-9C20-F6D14F0244CD}"/>
              </a:ext>
            </a:extLst>
          </p:cNvPr>
          <p:cNvSpPr>
            <a:spLocks noGrp="1"/>
          </p:cNvSpPr>
          <p:nvPr>
            <p:ph type="ftr" sz="quarter" idx="11"/>
          </p:nvPr>
        </p:nvSpPr>
        <p:spPr/>
        <p:txBody>
          <a:bodyPr/>
          <a:lstStyle/>
          <a:p>
            <a:endParaRPr lang="he-IL"/>
          </a:p>
        </p:txBody>
      </p:sp>
      <p:sp>
        <p:nvSpPr>
          <p:cNvPr id="9" name="Slide Number Placeholder 8">
            <a:extLst>
              <a:ext uri="{FF2B5EF4-FFF2-40B4-BE49-F238E27FC236}">
                <a16:creationId xmlns:a16="http://schemas.microsoft.com/office/drawing/2014/main" id="{1D2C9CA7-ADA2-14B4-3942-6F54A1209A42}"/>
              </a:ext>
            </a:extLst>
          </p:cNvPr>
          <p:cNvSpPr>
            <a:spLocks noGrp="1"/>
          </p:cNvSpPr>
          <p:nvPr>
            <p:ph type="sldNum" sz="quarter" idx="12"/>
          </p:nvPr>
        </p:nvSpPr>
        <p:spPr/>
        <p:txBody>
          <a:bodyPr/>
          <a:lstStyle/>
          <a:p>
            <a:fld id="{C9DE8896-049D-4AAA-90B8-2FA0E12A4084}" type="slidenum">
              <a:rPr lang="he-IL" smtClean="0"/>
              <a:t>‹#›</a:t>
            </a:fld>
            <a:endParaRPr lang="he-IL"/>
          </a:p>
        </p:txBody>
      </p:sp>
    </p:spTree>
    <p:extLst>
      <p:ext uri="{BB962C8B-B14F-4D97-AF65-F5344CB8AC3E}">
        <p14:creationId xmlns:p14="http://schemas.microsoft.com/office/powerpoint/2010/main" val="8310024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1416D-48DE-CEDD-2077-77CB9BB5FFC1}"/>
              </a:ext>
            </a:extLst>
          </p:cNvPr>
          <p:cNvSpPr>
            <a:spLocks noGrp="1"/>
          </p:cNvSpPr>
          <p:nvPr>
            <p:ph type="title"/>
          </p:nvPr>
        </p:nvSpPr>
        <p:spPr/>
        <p:txBody>
          <a:bodyPr/>
          <a:lstStyle/>
          <a:p>
            <a:r>
              <a:rPr lang="en-US"/>
              <a:t>Click to edit Master title style</a:t>
            </a:r>
            <a:endParaRPr lang="he-IL"/>
          </a:p>
        </p:txBody>
      </p:sp>
      <p:sp>
        <p:nvSpPr>
          <p:cNvPr id="3" name="Date Placeholder 2">
            <a:extLst>
              <a:ext uri="{FF2B5EF4-FFF2-40B4-BE49-F238E27FC236}">
                <a16:creationId xmlns:a16="http://schemas.microsoft.com/office/drawing/2014/main" id="{46FF9D5B-75B9-9878-962E-26B7DCA8D165}"/>
              </a:ext>
            </a:extLst>
          </p:cNvPr>
          <p:cNvSpPr>
            <a:spLocks noGrp="1"/>
          </p:cNvSpPr>
          <p:nvPr>
            <p:ph type="dt" sz="half" idx="10"/>
          </p:nvPr>
        </p:nvSpPr>
        <p:spPr/>
        <p:txBody>
          <a:bodyPr/>
          <a:lstStyle/>
          <a:p>
            <a:fld id="{14BF807C-F4A9-4470-B6CF-4C2287F482FA}" type="datetimeFigureOut">
              <a:rPr lang="he-IL" smtClean="0"/>
              <a:t>י"ב/אדר/תשפ"ו</a:t>
            </a:fld>
            <a:endParaRPr lang="he-IL"/>
          </a:p>
        </p:txBody>
      </p:sp>
      <p:sp>
        <p:nvSpPr>
          <p:cNvPr id="4" name="Footer Placeholder 3">
            <a:extLst>
              <a:ext uri="{FF2B5EF4-FFF2-40B4-BE49-F238E27FC236}">
                <a16:creationId xmlns:a16="http://schemas.microsoft.com/office/drawing/2014/main" id="{AD1A0683-2E3F-894F-6392-9DA59C773E3B}"/>
              </a:ext>
            </a:extLst>
          </p:cNvPr>
          <p:cNvSpPr>
            <a:spLocks noGrp="1"/>
          </p:cNvSpPr>
          <p:nvPr>
            <p:ph type="ftr" sz="quarter" idx="11"/>
          </p:nvPr>
        </p:nvSpPr>
        <p:spPr/>
        <p:txBody>
          <a:bodyPr/>
          <a:lstStyle/>
          <a:p>
            <a:endParaRPr lang="he-IL"/>
          </a:p>
        </p:txBody>
      </p:sp>
      <p:sp>
        <p:nvSpPr>
          <p:cNvPr id="5" name="Slide Number Placeholder 4">
            <a:extLst>
              <a:ext uri="{FF2B5EF4-FFF2-40B4-BE49-F238E27FC236}">
                <a16:creationId xmlns:a16="http://schemas.microsoft.com/office/drawing/2014/main" id="{38A86C0D-BFA8-1F7E-D3FF-B2A9672521C5}"/>
              </a:ext>
            </a:extLst>
          </p:cNvPr>
          <p:cNvSpPr>
            <a:spLocks noGrp="1"/>
          </p:cNvSpPr>
          <p:nvPr>
            <p:ph type="sldNum" sz="quarter" idx="12"/>
          </p:nvPr>
        </p:nvSpPr>
        <p:spPr/>
        <p:txBody>
          <a:bodyPr/>
          <a:lstStyle/>
          <a:p>
            <a:fld id="{C9DE8896-049D-4AAA-90B8-2FA0E12A4084}" type="slidenum">
              <a:rPr lang="he-IL" smtClean="0"/>
              <a:t>‹#›</a:t>
            </a:fld>
            <a:endParaRPr lang="he-IL"/>
          </a:p>
        </p:txBody>
      </p:sp>
    </p:spTree>
    <p:extLst>
      <p:ext uri="{BB962C8B-B14F-4D97-AF65-F5344CB8AC3E}">
        <p14:creationId xmlns:p14="http://schemas.microsoft.com/office/powerpoint/2010/main" val="38554510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FE82105-72BB-1048-58B0-7DAA29411374}"/>
              </a:ext>
            </a:extLst>
          </p:cNvPr>
          <p:cNvSpPr>
            <a:spLocks noGrp="1"/>
          </p:cNvSpPr>
          <p:nvPr>
            <p:ph type="dt" sz="half" idx="10"/>
          </p:nvPr>
        </p:nvSpPr>
        <p:spPr/>
        <p:txBody>
          <a:bodyPr/>
          <a:lstStyle/>
          <a:p>
            <a:fld id="{14BF807C-F4A9-4470-B6CF-4C2287F482FA}" type="datetimeFigureOut">
              <a:rPr lang="he-IL" smtClean="0"/>
              <a:t>י"ב/אדר/תשפ"ו</a:t>
            </a:fld>
            <a:endParaRPr lang="he-IL"/>
          </a:p>
        </p:txBody>
      </p:sp>
      <p:sp>
        <p:nvSpPr>
          <p:cNvPr id="3" name="Footer Placeholder 2">
            <a:extLst>
              <a:ext uri="{FF2B5EF4-FFF2-40B4-BE49-F238E27FC236}">
                <a16:creationId xmlns:a16="http://schemas.microsoft.com/office/drawing/2014/main" id="{F6AE97F2-5500-13DB-925C-CF1FA6A55DFD}"/>
              </a:ext>
            </a:extLst>
          </p:cNvPr>
          <p:cNvSpPr>
            <a:spLocks noGrp="1"/>
          </p:cNvSpPr>
          <p:nvPr>
            <p:ph type="ftr" sz="quarter" idx="11"/>
          </p:nvPr>
        </p:nvSpPr>
        <p:spPr/>
        <p:txBody>
          <a:bodyPr/>
          <a:lstStyle/>
          <a:p>
            <a:endParaRPr lang="he-IL"/>
          </a:p>
        </p:txBody>
      </p:sp>
      <p:sp>
        <p:nvSpPr>
          <p:cNvPr id="4" name="Slide Number Placeholder 3">
            <a:extLst>
              <a:ext uri="{FF2B5EF4-FFF2-40B4-BE49-F238E27FC236}">
                <a16:creationId xmlns:a16="http://schemas.microsoft.com/office/drawing/2014/main" id="{A2C8F5CF-E6C5-F427-F388-353B6D2528D6}"/>
              </a:ext>
            </a:extLst>
          </p:cNvPr>
          <p:cNvSpPr>
            <a:spLocks noGrp="1"/>
          </p:cNvSpPr>
          <p:nvPr>
            <p:ph type="sldNum" sz="quarter" idx="12"/>
          </p:nvPr>
        </p:nvSpPr>
        <p:spPr/>
        <p:txBody>
          <a:bodyPr/>
          <a:lstStyle/>
          <a:p>
            <a:fld id="{C9DE8896-049D-4AAA-90B8-2FA0E12A4084}" type="slidenum">
              <a:rPr lang="he-IL" smtClean="0"/>
              <a:t>‹#›</a:t>
            </a:fld>
            <a:endParaRPr lang="he-IL"/>
          </a:p>
        </p:txBody>
      </p:sp>
    </p:spTree>
    <p:extLst>
      <p:ext uri="{BB962C8B-B14F-4D97-AF65-F5344CB8AC3E}">
        <p14:creationId xmlns:p14="http://schemas.microsoft.com/office/powerpoint/2010/main" val="31546780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538ED-2314-2EA4-F80B-B941EE9203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he-IL"/>
          </a:p>
        </p:txBody>
      </p:sp>
      <p:sp>
        <p:nvSpPr>
          <p:cNvPr id="3" name="Content Placeholder 2">
            <a:extLst>
              <a:ext uri="{FF2B5EF4-FFF2-40B4-BE49-F238E27FC236}">
                <a16:creationId xmlns:a16="http://schemas.microsoft.com/office/drawing/2014/main" id="{EDE08ACD-9865-D169-BC5A-562D5CD09CC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Text Placeholder 3">
            <a:extLst>
              <a:ext uri="{FF2B5EF4-FFF2-40B4-BE49-F238E27FC236}">
                <a16:creationId xmlns:a16="http://schemas.microsoft.com/office/drawing/2014/main" id="{87BEBFC4-4771-6ED9-B296-3DF663971D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670F5A-0B04-637E-99E6-FFAAA1406089}"/>
              </a:ext>
            </a:extLst>
          </p:cNvPr>
          <p:cNvSpPr>
            <a:spLocks noGrp="1"/>
          </p:cNvSpPr>
          <p:nvPr>
            <p:ph type="dt" sz="half" idx="10"/>
          </p:nvPr>
        </p:nvSpPr>
        <p:spPr/>
        <p:txBody>
          <a:bodyPr/>
          <a:lstStyle/>
          <a:p>
            <a:fld id="{14BF807C-F4A9-4470-B6CF-4C2287F482FA}" type="datetimeFigureOut">
              <a:rPr lang="he-IL" smtClean="0"/>
              <a:t>י"ב/אדר/תשפ"ו</a:t>
            </a:fld>
            <a:endParaRPr lang="he-IL"/>
          </a:p>
        </p:txBody>
      </p:sp>
      <p:sp>
        <p:nvSpPr>
          <p:cNvPr id="6" name="Footer Placeholder 5">
            <a:extLst>
              <a:ext uri="{FF2B5EF4-FFF2-40B4-BE49-F238E27FC236}">
                <a16:creationId xmlns:a16="http://schemas.microsoft.com/office/drawing/2014/main" id="{C3EBAAC0-5AB8-3604-B9F3-C7A83C01C2DA}"/>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B1F46EA8-AD8A-8F90-8324-CBC0629C7D98}"/>
              </a:ext>
            </a:extLst>
          </p:cNvPr>
          <p:cNvSpPr>
            <a:spLocks noGrp="1"/>
          </p:cNvSpPr>
          <p:nvPr>
            <p:ph type="sldNum" sz="quarter" idx="12"/>
          </p:nvPr>
        </p:nvSpPr>
        <p:spPr/>
        <p:txBody>
          <a:bodyPr/>
          <a:lstStyle/>
          <a:p>
            <a:fld id="{C9DE8896-049D-4AAA-90B8-2FA0E12A4084}" type="slidenum">
              <a:rPr lang="he-IL" smtClean="0"/>
              <a:t>‹#›</a:t>
            </a:fld>
            <a:endParaRPr lang="he-IL"/>
          </a:p>
        </p:txBody>
      </p:sp>
    </p:spTree>
    <p:extLst>
      <p:ext uri="{BB962C8B-B14F-4D97-AF65-F5344CB8AC3E}">
        <p14:creationId xmlns:p14="http://schemas.microsoft.com/office/powerpoint/2010/main" val="6926839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57A92-D176-A878-BB41-87533E3411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he-IL"/>
          </a:p>
        </p:txBody>
      </p:sp>
      <p:sp>
        <p:nvSpPr>
          <p:cNvPr id="3" name="Picture Placeholder 2">
            <a:extLst>
              <a:ext uri="{FF2B5EF4-FFF2-40B4-BE49-F238E27FC236}">
                <a16:creationId xmlns:a16="http://schemas.microsoft.com/office/drawing/2014/main" id="{BA1303C9-BAD5-1F24-0919-5CE4EAD787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Text Placeholder 3">
            <a:extLst>
              <a:ext uri="{FF2B5EF4-FFF2-40B4-BE49-F238E27FC236}">
                <a16:creationId xmlns:a16="http://schemas.microsoft.com/office/drawing/2014/main" id="{F955F47E-6C5F-7437-AADC-E8C13560F0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FAEEA6-814A-95E6-53D4-0774FEB3FC08}"/>
              </a:ext>
            </a:extLst>
          </p:cNvPr>
          <p:cNvSpPr>
            <a:spLocks noGrp="1"/>
          </p:cNvSpPr>
          <p:nvPr>
            <p:ph type="dt" sz="half" idx="10"/>
          </p:nvPr>
        </p:nvSpPr>
        <p:spPr/>
        <p:txBody>
          <a:bodyPr/>
          <a:lstStyle/>
          <a:p>
            <a:fld id="{14BF807C-F4A9-4470-B6CF-4C2287F482FA}" type="datetimeFigureOut">
              <a:rPr lang="he-IL" smtClean="0"/>
              <a:t>י"ב/אדר/תשפ"ו</a:t>
            </a:fld>
            <a:endParaRPr lang="he-IL"/>
          </a:p>
        </p:txBody>
      </p:sp>
      <p:sp>
        <p:nvSpPr>
          <p:cNvPr id="6" name="Footer Placeholder 5">
            <a:extLst>
              <a:ext uri="{FF2B5EF4-FFF2-40B4-BE49-F238E27FC236}">
                <a16:creationId xmlns:a16="http://schemas.microsoft.com/office/drawing/2014/main" id="{C93E8E43-C32C-8B78-A0CB-44D02747F5E7}"/>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F49EAA3F-0476-FCBB-5CA9-EC3F5B849058}"/>
              </a:ext>
            </a:extLst>
          </p:cNvPr>
          <p:cNvSpPr>
            <a:spLocks noGrp="1"/>
          </p:cNvSpPr>
          <p:nvPr>
            <p:ph type="sldNum" sz="quarter" idx="12"/>
          </p:nvPr>
        </p:nvSpPr>
        <p:spPr/>
        <p:txBody>
          <a:bodyPr/>
          <a:lstStyle/>
          <a:p>
            <a:fld id="{C9DE8896-049D-4AAA-90B8-2FA0E12A4084}" type="slidenum">
              <a:rPr lang="he-IL" smtClean="0"/>
              <a:t>‹#›</a:t>
            </a:fld>
            <a:endParaRPr lang="he-IL"/>
          </a:p>
        </p:txBody>
      </p:sp>
    </p:spTree>
    <p:extLst>
      <p:ext uri="{BB962C8B-B14F-4D97-AF65-F5344CB8AC3E}">
        <p14:creationId xmlns:p14="http://schemas.microsoft.com/office/powerpoint/2010/main" val="3550494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C2D79-FE7A-9E3F-4791-76014EDFC3CF}"/>
              </a:ext>
            </a:extLst>
          </p:cNvPr>
          <p:cNvSpPr>
            <a:spLocks noGrp="1"/>
          </p:cNvSpPr>
          <p:nvPr>
            <p:ph type="title"/>
          </p:nvPr>
        </p:nvSpPr>
        <p:spPr/>
        <p:txBody>
          <a:bodyPr/>
          <a:lstStyle/>
          <a:p>
            <a:r>
              <a:rPr lang="en-US"/>
              <a:t>Click to edit Master title style</a:t>
            </a:r>
            <a:endParaRPr lang="he-IL"/>
          </a:p>
        </p:txBody>
      </p:sp>
      <p:sp>
        <p:nvSpPr>
          <p:cNvPr id="3" name="Vertical Text Placeholder 2">
            <a:extLst>
              <a:ext uri="{FF2B5EF4-FFF2-40B4-BE49-F238E27FC236}">
                <a16:creationId xmlns:a16="http://schemas.microsoft.com/office/drawing/2014/main" id="{11005709-886A-77F8-0CFB-FE992891DFF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229C25FC-376D-282D-D830-95C0172C0156}"/>
              </a:ext>
            </a:extLst>
          </p:cNvPr>
          <p:cNvSpPr>
            <a:spLocks noGrp="1"/>
          </p:cNvSpPr>
          <p:nvPr>
            <p:ph type="dt" sz="half" idx="10"/>
          </p:nvPr>
        </p:nvSpPr>
        <p:spPr/>
        <p:txBody>
          <a:bodyPr/>
          <a:lstStyle/>
          <a:p>
            <a:fld id="{14BF807C-F4A9-4470-B6CF-4C2287F482FA}" type="datetimeFigureOut">
              <a:rPr lang="he-IL" smtClean="0"/>
              <a:t>י"ב/אדר/תשפ"ו</a:t>
            </a:fld>
            <a:endParaRPr lang="he-IL"/>
          </a:p>
        </p:txBody>
      </p:sp>
      <p:sp>
        <p:nvSpPr>
          <p:cNvPr id="5" name="Footer Placeholder 4">
            <a:extLst>
              <a:ext uri="{FF2B5EF4-FFF2-40B4-BE49-F238E27FC236}">
                <a16:creationId xmlns:a16="http://schemas.microsoft.com/office/drawing/2014/main" id="{E9B5FDA1-F3A5-819E-2CD0-DB79F6E203C3}"/>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16770E69-CFD4-0429-9B3B-6B22312EFB8A}"/>
              </a:ext>
            </a:extLst>
          </p:cNvPr>
          <p:cNvSpPr>
            <a:spLocks noGrp="1"/>
          </p:cNvSpPr>
          <p:nvPr>
            <p:ph type="sldNum" sz="quarter" idx="12"/>
          </p:nvPr>
        </p:nvSpPr>
        <p:spPr/>
        <p:txBody>
          <a:bodyPr/>
          <a:lstStyle/>
          <a:p>
            <a:fld id="{C9DE8896-049D-4AAA-90B8-2FA0E12A4084}" type="slidenum">
              <a:rPr lang="he-IL" smtClean="0"/>
              <a:t>‹#›</a:t>
            </a:fld>
            <a:endParaRPr lang="he-IL"/>
          </a:p>
        </p:txBody>
      </p:sp>
    </p:spTree>
    <p:extLst>
      <p:ext uri="{BB962C8B-B14F-4D97-AF65-F5344CB8AC3E}">
        <p14:creationId xmlns:p14="http://schemas.microsoft.com/office/powerpoint/2010/main" val="38927352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41CD4F-3721-F5B4-43DB-F063B28D962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he-IL"/>
          </a:p>
        </p:txBody>
      </p:sp>
      <p:sp>
        <p:nvSpPr>
          <p:cNvPr id="3" name="Vertical Text Placeholder 2">
            <a:extLst>
              <a:ext uri="{FF2B5EF4-FFF2-40B4-BE49-F238E27FC236}">
                <a16:creationId xmlns:a16="http://schemas.microsoft.com/office/drawing/2014/main" id="{587D1BF0-E4CB-C382-5437-5C7DF000979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3F7C6B72-79B2-BCB0-F958-01384A7629BA}"/>
              </a:ext>
            </a:extLst>
          </p:cNvPr>
          <p:cNvSpPr>
            <a:spLocks noGrp="1"/>
          </p:cNvSpPr>
          <p:nvPr>
            <p:ph type="dt" sz="half" idx="10"/>
          </p:nvPr>
        </p:nvSpPr>
        <p:spPr/>
        <p:txBody>
          <a:bodyPr/>
          <a:lstStyle/>
          <a:p>
            <a:fld id="{14BF807C-F4A9-4470-B6CF-4C2287F482FA}" type="datetimeFigureOut">
              <a:rPr lang="he-IL" smtClean="0"/>
              <a:t>י"ב/אדר/תשפ"ו</a:t>
            </a:fld>
            <a:endParaRPr lang="he-IL"/>
          </a:p>
        </p:txBody>
      </p:sp>
      <p:sp>
        <p:nvSpPr>
          <p:cNvPr id="5" name="Footer Placeholder 4">
            <a:extLst>
              <a:ext uri="{FF2B5EF4-FFF2-40B4-BE49-F238E27FC236}">
                <a16:creationId xmlns:a16="http://schemas.microsoft.com/office/drawing/2014/main" id="{CD722A6D-9205-583E-D125-7F9A75663E9F}"/>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79AB7496-70DC-2A22-F0F8-A58C33B417C6}"/>
              </a:ext>
            </a:extLst>
          </p:cNvPr>
          <p:cNvSpPr>
            <a:spLocks noGrp="1"/>
          </p:cNvSpPr>
          <p:nvPr>
            <p:ph type="sldNum" sz="quarter" idx="12"/>
          </p:nvPr>
        </p:nvSpPr>
        <p:spPr/>
        <p:txBody>
          <a:bodyPr/>
          <a:lstStyle/>
          <a:p>
            <a:fld id="{C9DE8896-049D-4AAA-90B8-2FA0E12A4084}" type="slidenum">
              <a:rPr lang="he-IL" smtClean="0"/>
              <a:t>‹#›</a:t>
            </a:fld>
            <a:endParaRPr lang="he-IL"/>
          </a:p>
        </p:txBody>
      </p:sp>
    </p:spTree>
    <p:extLst>
      <p:ext uri="{BB962C8B-B14F-4D97-AF65-F5344CB8AC3E}">
        <p14:creationId xmlns:p14="http://schemas.microsoft.com/office/powerpoint/2010/main" val="563738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66A8B22-593E-6108-82A8-AE97BF3F31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he-IL"/>
          </a:p>
        </p:txBody>
      </p:sp>
      <p:sp>
        <p:nvSpPr>
          <p:cNvPr id="3" name="Text Placeholder 2">
            <a:extLst>
              <a:ext uri="{FF2B5EF4-FFF2-40B4-BE49-F238E27FC236}">
                <a16:creationId xmlns:a16="http://schemas.microsoft.com/office/drawing/2014/main" id="{7DEA0265-6A4C-E2B0-0748-5BF55D598C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D6F8FFA8-C6E5-C3A7-FE40-E746CFC91BA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4BF807C-F4A9-4470-B6CF-4C2287F482FA}" type="datetimeFigureOut">
              <a:rPr lang="he-IL" smtClean="0"/>
              <a:t>י"ב/אדר/תשפ"ו</a:t>
            </a:fld>
            <a:endParaRPr lang="he-IL"/>
          </a:p>
        </p:txBody>
      </p:sp>
      <p:sp>
        <p:nvSpPr>
          <p:cNvPr id="5" name="Footer Placeholder 4">
            <a:extLst>
              <a:ext uri="{FF2B5EF4-FFF2-40B4-BE49-F238E27FC236}">
                <a16:creationId xmlns:a16="http://schemas.microsoft.com/office/drawing/2014/main" id="{5AFD6B83-8FE7-EBDA-5BAE-F52B63C190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he-IL"/>
          </a:p>
        </p:txBody>
      </p:sp>
      <p:sp>
        <p:nvSpPr>
          <p:cNvPr id="6" name="Slide Number Placeholder 5">
            <a:extLst>
              <a:ext uri="{FF2B5EF4-FFF2-40B4-BE49-F238E27FC236}">
                <a16:creationId xmlns:a16="http://schemas.microsoft.com/office/drawing/2014/main" id="{342FAA64-0932-B64A-A405-EFEF2268C87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9DE8896-049D-4AAA-90B8-2FA0E12A4084}" type="slidenum">
              <a:rPr lang="he-IL" smtClean="0"/>
              <a:t>‹#›</a:t>
            </a:fld>
            <a:endParaRPr lang="he-IL"/>
          </a:p>
        </p:txBody>
      </p:sp>
    </p:spTree>
    <p:extLst>
      <p:ext uri="{BB962C8B-B14F-4D97-AF65-F5344CB8AC3E}">
        <p14:creationId xmlns:p14="http://schemas.microsoft.com/office/powerpoint/2010/main" val="41716452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CEDA34-8B05-1180-E2E2-8A7A6AD60882}"/>
              </a:ext>
            </a:extLst>
          </p:cNvPr>
          <p:cNvSpPr>
            <a:spLocks noGrp="1"/>
          </p:cNvSpPr>
          <p:nvPr>
            <p:ph type="ctrTitle"/>
          </p:nvPr>
        </p:nvSpPr>
        <p:spPr>
          <a:xfrm>
            <a:off x="1524000" y="1293338"/>
            <a:ext cx="9144000" cy="3274592"/>
          </a:xfrm>
        </p:spPr>
        <p:txBody>
          <a:bodyPr anchor="ctr">
            <a:normAutofit/>
          </a:bodyPr>
          <a:lstStyle/>
          <a:p>
            <a:r>
              <a:rPr lang="en-US" sz="7200"/>
              <a:t>Project 1</a:t>
            </a:r>
            <a:endParaRPr lang="he-IL" sz="7200"/>
          </a:p>
        </p:txBody>
      </p:sp>
      <p:sp>
        <p:nvSpPr>
          <p:cNvPr id="3" name="Subtitle 2">
            <a:extLst>
              <a:ext uri="{FF2B5EF4-FFF2-40B4-BE49-F238E27FC236}">
                <a16:creationId xmlns:a16="http://schemas.microsoft.com/office/drawing/2014/main" id="{FE7F2B39-39A3-4A55-3030-DE113DC5CF5F}"/>
              </a:ext>
            </a:extLst>
          </p:cNvPr>
          <p:cNvSpPr>
            <a:spLocks noGrp="1"/>
          </p:cNvSpPr>
          <p:nvPr>
            <p:ph type="subTitle" idx="1"/>
          </p:nvPr>
        </p:nvSpPr>
        <p:spPr>
          <a:xfrm>
            <a:off x="1524000" y="5514052"/>
            <a:ext cx="9144000" cy="651910"/>
          </a:xfrm>
        </p:spPr>
        <p:txBody>
          <a:bodyPr anchor="ctr">
            <a:normAutofit/>
          </a:bodyPr>
          <a:lstStyle/>
          <a:p>
            <a:r>
              <a:rPr lang="en-US" dirty="0"/>
              <a:t>Omar Mahamid</a:t>
            </a:r>
            <a:endParaRPr lang="he-IL" dirty="0"/>
          </a:p>
        </p:txBody>
      </p:sp>
      <p:cxnSp>
        <p:nvCxnSpPr>
          <p:cNvPr id="14" name="Straight Connector 13">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45500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C7E0A2C-7C0A-4AAC-B3B0-6C12B2EBAE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51871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1"/>
            <a:ext cx="10999072" cy="539995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BA5254CE-2863-4C1B-E3C3-74A0724A1A97}"/>
              </a:ext>
            </a:extLst>
          </p:cNvPr>
          <p:cNvSpPr>
            <a:spLocks noGrp="1"/>
          </p:cNvSpPr>
          <p:nvPr>
            <p:ph type="ctrTitle"/>
          </p:nvPr>
        </p:nvSpPr>
        <p:spPr>
          <a:xfrm>
            <a:off x="1524000" y="1248587"/>
            <a:ext cx="9144000" cy="2387600"/>
          </a:xfrm>
        </p:spPr>
        <p:txBody>
          <a:bodyPr>
            <a:normAutofit/>
          </a:bodyPr>
          <a:lstStyle/>
          <a:p>
            <a:r>
              <a:rPr lang="en-US" sz="6400" dirty="0"/>
              <a:t>Firebase Realtime Database Examples</a:t>
            </a:r>
            <a:endParaRPr lang="he-IL" sz="6400" dirty="0"/>
          </a:p>
        </p:txBody>
      </p:sp>
      <p:cxnSp>
        <p:nvCxnSpPr>
          <p:cNvPr id="16" name="Straight Connector 15">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29769"/>
            <a:ext cx="11000232"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31414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4AAAA74-1106-C0CF-85BB-3B39A08845CC}"/>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095C1F4-AE7F-44E4-8693-40D3D68311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8734DDD3-F723-4DD3-8ABE-EC0B2AC87D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22324" y="-15978"/>
            <a:ext cx="7147352" cy="5876916"/>
            <a:chOff x="329184" y="-99107"/>
            <a:chExt cx="524256" cy="5876916"/>
          </a:xfrm>
        </p:grpSpPr>
        <p:cxnSp>
          <p:nvCxnSpPr>
            <p:cNvPr id="13" name="Straight Connector 12">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99107"/>
              <a:ext cx="524256" cy="563122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6" name="Rectangle 15">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1055718"/>
            <a:ext cx="10999072" cy="335834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6669BF19-E2CE-6E8E-4188-E26D3554DBBC}"/>
              </a:ext>
            </a:extLst>
          </p:cNvPr>
          <p:cNvSpPr>
            <a:spLocks noGrp="1"/>
          </p:cNvSpPr>
          <p:nvPr>
            <p:ph type="ctrTitle"/>
          </p:nvPr>
        </p:nvSpPr>
        <p:spPr>
          <a:xfrm>
            <a:off x="1524000" y="1584683"/>
            <a:ext cx="9144000" cy="2551829"/>
          </a:xfrm>
        </p:spPr>
        <p:txBody>
          <a:bodyPr anchor="ctr">
            <a:normAutofit/>
          </a:bodyPr>
          <a:lstStyle/>
          <a:p>
            <a:pPr rtl="1"/>
            <a:r>
              <a:rPr lang="he-IL" sz="5600"/>
              <a:t>דוגמה 1:</a:t>
            </a:r>
            <a:br>
              <a:rPr lang="he-IL" sz="5600"/>
            </a:br>
            <a:r>
              <a:rPr lang="he-IL" sz="5600"/>
              <a:t>לוגים לפי קטגוריה + חיישן + טווח זמן </a:t>
            </a:r>
            <a:r>
              <a:rPr lang="en-US" sz="5600"/>
              <a:t>(Viewer)</a:t>
            </a:r>
            <a:endParaRPr lang="he-IL" sz="5600"/>
          </a:p>
        </p:txBody>
      </p:sp>
    </p:spTree>
    <p:extLst>
      <p:ext uri="{BB962C8B-B14F-4D97-AF65-F5344CB8AC3E}">
        <p14:creationId xmlns:p14="http://schemas.microsoft.com/office/powerpoint/2010/main" val="30654516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F2EF20-A4B2-991C-37D0-AFD38E898286}"/>
              </a:ext>
            </a:extLst>
          </p:cNvPr>
          <p:cNvSpPr>
            <a:spLocks noGrp="1"/>
          </p:cNvSpPr>
          <p:nvPr>
            <p:ph type="title"/>
          </p:nvPr>
        </p:nvSpPr>
        <p:spPr>
          <a:xfrm>
            <a:off x="808638" y="386930"/>
            <a:ext cx="9236700" cy="1188950"/>
          </a:xfrm>
        </p:spPr>
        <p:txBody>
          <a:bodyPr anchor="b">
            <a:normAutofit/>
          </a:bodyPr>
          <a:lstStyle/>
          <a:p>
            <a:pPr algn="r" rtl="1"/>
            <a:r>
              <a:rPr lang="he-IL" sz="5400" dirty="0"/>
              <a:t>תיאור המערכת והדרישה</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021E0B8-DDCC-2879-AF61-36306C8D8B54}"/>
              </a:ext>
            </a:extLst>
          </p:cNvPr>
          <p:cNvSpPr>
            <a:spLocks noGrp="1"/>
          </p:cNvSpPr>
          <p:nvPr>
            <p:ph idx="1"/>
          </p:nvPr>
        </p:nvSpPr>
        <p:spPr>
          <a:xfrm>
            <a:off x="793660" y="2599509"/>
            <a:ext cx="10143668" cy="3435531"/>
          </a:xfrm>
        </p:spPr>
        <p:txBody>
          <a:bodyPr anchor="ctr">
            <a:normAutofit/>
          </a:bodyPr>
          <a:lstStyle/>
          <a:p>
            <a:pPr algn="r" rtl="1"/>
            <a:r>
              <a:rPr lang="he-IL" sz="2200" b="1" dirty="0"/>
              <a:t>התרחיש:</a:t>
            </a:r>
            <a:r>
              <a:rPr lang="he-IL" sz="2200" dirty="0"/>
              <a:t> מערכת </a:t>
            </a:r>
            <a:r>
              <a:rPr lang="en-US" sz="2200" dirty="0" err="1"/>
              <a:t>Iot</a:t>
            </a:r>
            <a:r>
              <a:rPr lang="he-IL" sz="2200" dirty="0"/>
              <a:t> בבניין משדרת נתונים אסינכרוניים משני בקרים, כל בקר משדר כמה קטגוריות: </a:t>
            </a:r>
            <a:r>
              <a:rPr lang="en-US" sz="2200" dirty="0"/>
              <a:t>temperature + humidity</a:t>
            </a:r>
            <a:r>
              <a:rPr lang="he-IL" sz="2200" dirty="0"/>
              <a:t>.</a:t>
            </a:r>
          </a:p>
          <a:p>
            <a:pPr marL="0" indent="0" algn="r" rtl="1">
              <a:buNone/>
            </a:pPr>
            <a:r>
              <a:rPr lang="he-IL" sz="2200" dirty="0"/>
              <a:t>לכל </a:t>
            </a:r>
            <a:r>
              <a:rPr lang="en-US" sz="2200" dirty="0"/>
              <a:t>datapoint</a:t>
            </a:r>
            <a:r>
              <a:rPr lang="he-IL" sz="2200" dirty="0"/>
              <a:t> יש </a:t>
            </a:r>
            <a:r>
              <a:rPr lang="en-US" sz="2200" dirty="0"/>
              <a:t>timestamp</a:t>
            </a:r>
            <a:r>
              <a:rPr lang="he-IL" sz="2200" dirty="0"/>
              <a:t>.</a:t>
            </a:r>
          </a:p>
          <a:p>
            <a:pPr algn="r" rtl="1"/>
            <a:r>
              <a:rPr lang="he-IL" sz="2200" b="1" dirty="0"/>
              <a:t>המשתמש:</a:t>
            </a:r>
            <a:r>
              <a:rPr lang="he-IL" sz="2200" dirty="0"/>
              <a:t> לקוח מסוג </a:t>
            </a:r>
            <a:r>
              <a:rPr lang="en-US" sz="2200" dirty="0"/>
              <a:t>Viewer</a:t>
            </a:r>
            <a:r>
              <a:rPr lang="he-IL" sz="2200" dirty="0"/>
              <a:t> (דייר\ לקוח), רואה רק חיישנים ששייכים לו </a:t>
            </a:r>
            <a:r>
              <a:rPr lang="en-US" sz="2200" dirty="0"/>
              <a:t>(</a:t>
            </a:r>
            <a:r>
              <a:rPr lang="en-US" sz="2200" dirty="0" err="1"/>
              <a:t>ownerUserId</a:t>
            </a:r>
            <a:r>
              <a:rPr lang="en-US" sz="2200" dirty="0"/>
              <a:t>)</a:t>
            </a:r>
            <a:r>
              <a:rPr lang="he-IL" sz="2200" dirty="0"/>
              <a:t>.</a:t>
            </a:r>
          </a:p>
          <a:p>
            <a:pPr algn="r" rtl="1"/>
            <a:r>
              <a:rPr lang="he-IL" sz="2200" b="1" dirty="0"/>
              <a:t>השאילתה המבוקשת:</a:t>
            </a:r>
            <a:r>
              <a:rPr lang="he-IL" sz="2200" dirty="0"/>
              <a:t> שליפת "לוג טמפרטורה" עבור חיישן ספציפי למשתמש בין השעות 14:00 ל- 15:00, מסודר לפי זמן.</a:t>
            </a:r>
          </a:p>
          <a:p>
            <a:pPr algn="r" rtl="1"/>
            <a:r>
              <a:rPr lang="he-IL" sz="2200" b="1" dirty="0"/>
              <a:t>איך זה עובד:</a:t>
            </a:r>
            <a:r>
              <a:rPr lang="he-IL" sz="2200" dirty="0"/>
              <a:t> זוהי שאילתת </a:t>
            </a:r>
            <a:r>
              <a:rPr lang="en-US" sz="2200" dirty="0"/>
              <a:t>RTDB</a:t>
            </a:r>
            <a:r>
              <a:rPr lang="he-IL" sz="2200" dirty="0"/>
              <a:t> קלאסית על ציר בודד תחת נתיב ספציפי, התומכת בשילוב של סינון טווח, מיון, והגבלת כמות (למשל </a:t>
            </a:r>
            <a:r>
              <a:rPr lang="en-US" sz="2200" dirty="0"/>
              <a:t>last N</a:t>
            </a:r>
            <a:r>
              <a:rPr lang="he-IL" sz="2200" dirty="0"/>
              <a:t>).</a:t>
            </a:r>
          </a:p>
        </p:txBody>
      </p:sp>
    </p:spTree>
    <p:extLst>
      <p:ext uri="{BB962C8B-B14F-4D97-AF65-F5344CB8AC3E}">
        <p14:creationId xmlns:p14="http://schemas.microsoft.com/office/powerpoint/2010/main" val="30951257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ACA33DA-1DA8-71B3-4573-C880D099817A}"/>
              </a:ext>
            </a:extLst>
          </p:cNvPr>
          <p:cNvSpPr>
            <a:spLocks noGrp="1"/>
          </p:cNvSpPr>
          <p:nvPr>
            <p:ph type="title"/>
          </p:nvPr>
        </p:nvSpPr>
        <p:spPr>
          <a:xfrm>
            <a:off x="808638" y="386930"/>
            <a:ext cx="9236700" cy="1188950"/>
          </a:xfrm>
        </p:spPr>
        <p:txBody>
          <a:bodyPr anchor="b">
            <a:normAutofit/>
          </a:bodyPr>
          <a:lstStyle/>
          <a:p>
            <a:pPr algn="r" rtl="1"/>
            <a:r>
              <a:rPr lang="he-IL" sz="5400" dirty="0"/>
              <a:t>מגבלות ותקלות נפוצות בגישה זו</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D661CCA-778A-BDAC-E4B4-AD3FE7D5CE42}"/>
              </a:ext>
            </a:extLst>
          </p:cNvPr>
          <p:cNvSpPr>
            <a:spLocks noGrp="1"/>
          </p:cNvSpPr>
          <p:nvPr>
            <p:ph idx="1"/>
          </p:nvPr>
        </p:nvSpPr>
        <p:spPr>
          <a:xfrm>
            <a:off x="793660" y="2599509"/>
            <a:ext cx="10143668" cy="3435531"/>
          </a:xfrm>
        </p:spPr>
        <p:txBody>
          <a:bodyPr anchor="ctr">
            <a:normAutofit/>
          </a:bodyPr>
          <a:lstStyle/>
          <a:p>
            <a:pPr algn="r" rtl="1"/>
            <a:r>
              <a:rPr lang="he-IL" sz="2400" b="1" dirty="0"/>
              <a:t>המגבלה המרכזית:</a:t>
            </a:r>
            <a:r>
              <a:rPr lang="he-IL" sz="2400" dirty="0"/>
              <a:t> אין חיפוש רוחבי או </a:t>
            </a:r>
            <a:r>
              <a:rPr lang="en-US" sz="2400" dirty="0"/>
              <a:t>join</a:t>
            </a:r>
            <a:r>
              <a:rPr lang="he-IL" sz="2400" dirty="0"/>
              <a:t>. כדי שהשאילתה הפשוטה הזו תעבוד, חובה לארגן את עץ הנתונים מראש כך שהנתיב </a:t>
            </a:r>
            <a:r>
              <a:rPr lang="en-US" sz="2400" dirty="0"/>
              <a:t>(path)</a:t>
            </a:r>
            <a:r>
              <a:rPr lang="he-IL" sz="2400" dirty="0"/>
              <a:t> כבר "נועל" את השילוב של </a:t>
            </a:r>
            <a:r>
              <a:rPr lang="he-IL" sz="2400" dirty="0" err="1"/>
              <a:t>קטגוריה+חיישן+משתמש</a:t>
            </a:r>
            <a:r>
              <a:rPr lang="he-IL" sz="2400" dirty="0"/>
              <a:t>.</a:t>
            </a:r>
          </a:p>
          <a:p>
            <a:pPr algn="r" rtl="1"/>
            <a:r>
              <a:rPr lang="he-IL" sz="2400" b="1" dirty="0"/>
              <a:t>תקלות אופייניות:</a:t>
            </a:r>
            <a:r>
              <a:rPr lang="he-IL" sz="2400" dirty="0"/>
              <a:t> </a:t>
            </a:r>
          </a:p>
          <a:p>
            <a:pPr lvl="1" algn="r" rtl="1"/>
            <a:r>
              <a:rPr lang="he-IL" dirty="0"/>
              <a:t>שמירת ה- </a:t>
            </a:r>
            <a:r>
              <a:rPr lang="en-US" dirty="0"/>
              <a:t>timestamp</a:t>
            </a:r>
            <a:r>
              <a:rPr lang="he-IL" dirty="0"/>
              <a:t> בפורמט לא נכון (למשל </a:t>
            </a:r>
            <a:r>
              <a:rPr lang="en-US" dirty="0"/>
              <a:t>string</a:t>
            </a:r>
            <a:r>
              <a:rPr lang="he-IL" dirty="0"/>
              <a:t> לא אחיד) תוביל לשבירת סדר הזמנים בתוצאות.</a:t>
            </a:r>
          </a:p>
          <a:p>
            <a:pPr lvl="1" algn="r" rtl="1"/>
            <a:r>
              <a:rPr lang="he-IL" dirty="0"/>
              <a:t>חוסר באינדקס מוגדר </a:t>
            </a:r>
            <a:r>
              <a:rPr lang="en-US" dirty="0"/>
              <a:t>(</a:t>
            </a:r>
            <a:r>
              <a:rPr lang="en-US" dirty="0" err="1"/>
              <a:t>indexOn</a:t>
            </a:r>
            <a:r>
              <a:rPr lang="en-US" dirty="0"/>
              <a:t> .)</a:t>
            </a:r>
            <a:r>
              <a:rPr lang="he-IL" dirty="0"/>
              <a:t>, על השדה שלפיו מסדרים יוביל לאזהרות ובעיות ביצועים.</a:t>
            </a:r>
          </a:p>
        </p:txBody>
      </p:sp>
    </p:spTree>
    <p:extLst>
      <p:ext uri="{BB962C8B-B14F-4D97-AF65-F5344CB8AC3E}">
        <p14:creationId xmlns:p14="http://schemas.microsoft.com/office/powerpoint/2010/main" val="32306249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E994A25-996E-EC69-C206-73AAD9F57CDD}"/>
            </a:ext>
          </a:extLst>
        </p:cNvPr>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9C7E0A2C-7C0A-4AAC-B3B0-6C12B2EBAE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51871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1"/>
            <a:ext cx="10999072" cy="539995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828BF2EA-4F33-D2D1-B411-450DA3ADF7EC}"/>
              </a:ext>
            </a:extLst>
          </p:cNvPr>
          <p:cNvSpPr>
            <a:spLocks noGrp="1"/>
          </p:cNvSpPr>
          <p:nvPr>
            <p:ph type="ctrTitle"/>
          </p:nvPr>
        </p:nvSpPr>
        <p:spPr>
          <a:xfrm>
            <a:off x="1524000" y="1248587"/>
            <a:ext cx="9144000" cy="2387600"/>
          </a:xfrm>
        </p:spPr>
        <p:txBody>
          <a:bodyPr>
            <a:normAutofit/>
          </a:bodyPr>
          <a:lstStyle/>
          <a:p>
            <a:pPr rtl="1"/>
            <a:r>
              <a:rPr lang="he-IL" sz="5400" dirty="0"/>
              <a:t>דוגמה 2:</a:t>
            </a:r>
            <a:br>
              <a:rPr lang="he-IL" sz="5400" dirty="0"/>
            </a:br>
            <a:r>
              <a:rPr lang="he-IL" sz="5400" dirty="0"/>
              <a:t>כל החיישנים בטווח זמן לפי קטגוריה</a:t>
            </a:r>
            <a:br>
              <a:rPr lang="he-IL" sz="5400" dirty="0"/>
            </a:br>
            <a:r>
              <a:rPr lang="en-US" sz="5400" dirty="0"/>
              <a:t>Admin + Denormalization</a:t>
            </a:r>
            <a:endParaRPr lang="he-IL" sz="5400" dirty="0"/>
          </a:p>
        </p:txBody>
      </p:sp>
      <p:cxnSp>
        <p:nvCxnSpPr>
          <p:cNvPr id="21" name="Straight Connector 20">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29769"/>
            <a:ext cx="11000232"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1713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1262A3-E40A-9245-B592-B0A49109E380}"/>
              </a:ext>
            </a:extLst>
          </p:cNvPr>
          <p:cNvSpPr>
            <a:spLocks noGrp="1"/>
          </p:cNvSpPr>
          <p:nvPr>
            <p:ph type="title"/>
          </p:nvPr>
        </p:nvSpPr>
        <p:spPr>
          <a:xfrm>
            <a:off x="808638" y="386930"/>
            <a:ext cx="9236700" cy="1188950"/>
          </a:xfrm>
        </p:spPr>
        <p:txBody>
          <a:bodyPr anchor="b">
            <a:normAutofit/>
          </a:bodyPr>
          <a:lstStyle/>
          <a:p>
            <a:pPr algn="r" rtl="1"/>
            <a:r>
              <a:rPr lang="he-IL" sz="5400" dirty="0"/>
              <a:t>התרחיש והאתגר הרוחבי</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8268620-742E-D6D2-55AC-E11B6F174DD9}"/>
              </a:ext>
            </a:extLst>
          </p:cNvPr>
          <p:cNvSpPr>
            <a:spLocks noGrp="1"/>
          </p:cNvSpPr>
          <p:nvPr>
            <p:ph idx="1"/>
          </p:nvPr>
        </p:nvSpPr>
        <p:spPr>
          <a:xfrm>
            <a:off x="793660" y="2599509"/>
            <a:ext cx="10143668" cy="3435531"/>
          </a:xfrm>
        </p:spPr>
        <p:txBody>
          <a:bodyPr anchor="ctr">
            <a:normAutofit/>
          </a:bodyPr>
          <a:lstStyle/>
          <a:p>
            <a:pPr algn="r" rtl="1"/>
            <a:r>
              <a:rPr lang="he-IL" sz="2400" b="1" dirty="0"/>
              <a:t>התרחיש והמשתמש:</a:t>
            </a:r>
            <a:r>
              <a:rPr lang="he-IL" sz="2400" dirty="0"/>
              <a:t> משתמש מסוג</a:t>
            </a:r>
            <a:r>
              <a:rPr lang="en-US" sz="2400" dirty="0"/>
              <a:t>Admin </a:t>
            </a:r>
            <a:r>
              <a:rPr lang="he-IL" sz="2400" dirty="0"/>
              <a:t> רוצה לראות "מסך מערכת" המציג אירועים מכל החיישנים ומכל הקטגוריות.</a:t>
            </a:r>
          </a:p>
          <a:p>
            <a:pPr algn="r" rtl="1"/>
            <a:r>
              <a:rPr lang="he-IL" sz="2400" b="1" dirty="0"/>
              <a:t>השאילתה המבוקשת:</a:t>
            </a:r>
            <a:r>
              <a:rPr lang="he-IL" sz="2400" dirty="0"/>
              <a:t> הבאת כל הרשומות של קטגוריית ה- </a:t>
            </a:r>
            <a:r>
              <a:rPr lang="en-US" sz="2400" dirty="0"/>
              <a:t>temperature</a:t>
            </a:r>
            <a:r>
              <a:rPr lang="he-IL" sz="2400" dirty="0"/>
              <a:t> מכל החיישנים בחלון זמן ספציפי (למשל 10:00-10:30), מוצגות כרונולוגית כלוג גלובלי.</a:t>
            </a:r>
          </a:p>
          <a:p>
            <a:pPr algn="r" rtl="1"/>
            <a:r>
              <a:rPr lang="he-IL" sz="2400" dirty="0"/>
              <a:t>הבעיה המובנית: </a:t>
            </a:r>
            <a:r>
              <a:rPr lang="en-US" sz="2400" dirty="0"/>
              <a:t>RTDB</a:t>
            </a:r>
            <a:r>
              <a:rPr lang="he-IL" sz="2400" dirty="0"/>
              <a:t> יתקשה מאוד לבצע זאת אם הנתונים שמורים תחת ענפים נפרדים לפי חיישן </a:t>
            </a:r>
            <a:r>
              <a:rPr lang="en-US" sz="2400" dirty="0"/>
              <a:t>(/</a:t>
            </a:r>
            <a:r>
              <a:rPr lang="en-US" sz="2400" dirty="0" err="1"/>
              <a:t>bySensor</a:t>
            </a:r>
            <a:r>
              <a:rPr lang="en-US" sz="2400" dirty="0"/>
              <a:t>/{</a:t>
            </a:r>
            <a:r>
              <a:rPr lang="en-US" sz="2400" dirty="0" err="1"/>
              <a:t>sensorID</a:t>
            </a:r>
            <a:r>
              <a:rPr lang="en-US" sz="2400" dirty="0"/>
              <a:t>}/…)</a:t>
            </a:r>
            <a:r>
              <a:rPr lang="he-IL" sz="2400" dirty="0"/>
              <a:t>. המסד פשוט לא בנוי לשאילתה אחת שחוצה הרבה ענפים במקביל.</a:t>
            </a:r>
            <a:endParaRPr lang="ar-SA" sz="2400" dirty="0"/>
          </a:p>
        </p:txBody>
      </p:sp>
    </p:spTree>
    <p:extLst>
      <p:ext uri="{BB962C8B-B14F-4D97-AF65-F5344CB8AC3E}">
        <p14:creationId xmlns:p14="http://schemas.microsoft.com/office/powerpoint/2010/main" val="417518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5513140-FE0A-04CF-99FA-E6CF3E5B7FB7}"/>
              </a:ext>
            </a:extLst>
          </p:cNvPr>
          <p:cNvSpPr>
            <a:spLocks noGrp="1"/>
          </p:cNvSpPr>
          <p:nvPr>
            <p:ph type="title"/>
          </p:nvPr>
        </p:nvSpPr>
        <p:spPr>
          <a:xfrm>
            <a:off x="1247144" y="404948"/>
            <a:ext cx="9236700" cy="1188950"/>
          </a:xfrm>
        </p:spPr>
        <p:txBody>
          <a:bodyPr anchor="b">
            <a:normAutofit/>
          </a:bodyPr>
          <a:lstStyle/>
          <a:p>
            <a:pPr algn="r" rtl="1"/>
            <a:r>
              <a:rPr lang="he-IL" sz="4600" dirty="0"/>
              <a:t>הפתרון </a:t>
            </a:r>
            <a:r>
              <a:rPr lang="en-US" sz="4600" dirty="0"/>
              <a:t>(Denormalization)</a:t>
            </a:r>
            <a:r>
              <a:rPr lang="he-IL" sz="4600" dirty="0"/>
              <a:t> והסכנות שבו</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743B147-5BF9-5FBD-FD09-2DEE312849D4}"/>
              </a:ext>
            </a:extLst>
          </p:cNvPr>
          <p:cNvSpPr>
            <a:spLocks noGrp="1"/>
          </p:cNvSpPr>
          <p:nvPr>
            <p:ph idx="1"/>
          </p:nvPr>
        </p:nvSpPr>
        <p:spPr>
          <a:xfrm>
            <a:off x="793660" y="2599509"/>
            <a:ext cx="10143668" cy="3435531"/>
          </a:xfrm>
        </p:spPr>
        <p:txBody>
          <a:bodyPr anchor="ctr">
            <a:normAutofit/>
          </a:bodyPr>
          <a:lstStyle/>
          <a:p>
            <a:pPr algn="r" rtl="1"/>
            <a:r>
              <a:rPr lang="he-IL" sz="2400" b="1" dirty="0"/>
              <a:t>הפתרון:</a:t>
            </a:r>
            <a:r>
              <a:rPr lang="he-IL" sz="2400" dirty="0"/>
              <a:t> כדי לאפשר שליפה כזו, חובה לתכנן אינדקסים ייעודיים בעץ, כגון הוספת מסלול לפי זמן:</a:t>
            </a:r>
          </a:p>
          <a:p>
            <a:pPr marL="0" indent="0" algn="r" rtl="1">
              <a:buNone/>
            </a:pPr>
            <a:r>
              <a:rPr lang="en-US" sz="2400" dirty="0"/>
              <a:t>/</a:t>
            </a:r>
            <a:r>
              <a:rPr lang="en-US" sz="2400" dirty="0" err="1"/>
              <a:t>byTime</a:t>
            </a:r>
            <a:r>
              <a:rPr lang="en-US" sz="2400" dirty="0"/>
              <a:t>/{category}/{timestamp}/…</a:t>
            </a:r>
            <a:endParaRPr lang="he-IL" sz="2400" dirty="0"/>
          </a:p>
          <a:p>
            <a:pPr algn="r" rtl="1"/>
            <a:r>
              <a:rPr lang="he-IL" sz="2400" dirty="0"/>
              <a:t>תקלות אופייניות כתוצאה מהפתרון:</a:t>
            </a:r>
          </a:p>
          <a:p>
            <a:pPr lvl="1" algn="r" rtl="1"/>
            <a:r>
              <a:rPr lang="he-IL" b="1" dirty="0"/>
              <a:t>אי-עקביות:</a:t>
            </a:r>
            <a:r>
              <a:rPr lang="he-IL" dirty="0"/>
              <a:t> כתיבה כפולה לשני מסלולים במקביל </a:t>
            </a:r>
            <a:r>
              <a:rPr lang="en-US" dirty="0"/>
              <a:t>(</a:t>
            </a:r>
            <a:r>
              <a:rPr lang="en-US" dirty="0" err="1"/>
              <a:t>byTime</a:t>
            </a:r>
            <a:r>
              <a:rPr lang="en-US" dirty="0"/>
              <a:t> + </a:t>
            </a:r>
            <a:r>
              <a:rPr lang="en-US" dirty="0" err="1"/>
              <a:t>bySensor</a:t>
            </a:r>
            <a:r>
              <a:rPr lang="en-US" dirty="0"/>
              <a:t>)</a:t>
            </a:r>
            <a:r>
              <a:rPr lang="he-IL" dirty="0"/>
              <a:t> עלולה להוביל למצב שבו אחת </a:t>
            </a:r>
            <a:r>
              <a:rPr lang="he-IL" dirty="0" err="1"/>
              <a:t>הכתיבות</a:t>
            </a:r>
            <a:r>
              <a:rPr lang="he-IL" dirty="0"/>
              <a:t> נכשלת, והמידע יוצא מסנכרון.</a:t>
            </a:r>
          </a:p>
          <a:p>
            <a:pPr lvl="1" algn="r" rtl="1"/>
            <a:r>
              <a:rPr lang="he-IL" b="1" dirty="0"/>
              <a:t>דריסת נתונים:</a:t>
            </a:r>
            <a:r>
              <a:rPr lang="he-IL" dirty="0"/>
              <a:t> אם שני בקרים שונים שולחים נתון עם בדיוק אותו </a:t>
            </a:r>
            <a:r>
              <a:rPr lang="en-US" dirty="0"/>
              <a:t>timestamp</a:t>
            </a:r>
            <a:r>
              <a:rPr lang="he-IL" dirty="0"/>
              <a:t>, נוצרת התנגשות. חובה להשתמש במבנה נתונים שלא דורס את עצמו.</a:t>
            </a:r>
          </a:p>
        </p:txBody>
      </p:sp>
    </p:spTree>
    <p:extLst>
      <p:ext uri="{BB962C8B-B14F-4D97-AF65-F5344CB8AC3E}">
        <p14:creationId xmlns:p14="http://schemas.microsoft.com/office/powerpoint/2010/main" val="37484211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915CDE4-8657-09D8-AAE5-7EAB7E395303}"/>
            </a:ext>
          </a:extLst>
        </p:cNvPr>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9095C1F4-AE7F-44E4-8693-40D3D68311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8734DDD3-F723-4DD3-8ABE-EC0B2AC87D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22324" y="-15978"/>
            <a:ext cx="7147352" cy="5876916"/>
            <a:chOff x="329184" y="-99107"/>
            <a:chExt cx="524256" cy="5876916"/>
          </a:xfrm>
        </p:grpSpPr>
        <p:cxnSp>
          <p:nvCxnSpPr>
            <p:cNvPr id="13" name="Straight Connector 12">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99107"/>
              <a:ext cx="524256" cy="563122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1" name="Rectangle 20">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1055718"/>
            <a:ext cx="10999072" cy="335834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2BFEDC8B-F6F4-2771-0F05-57262F905654}"/>
              </a:ext>
            </a:extLst>
          </p:cNvPr>
          <p:cNvSpPr>
            <a:spLocks noGrp="1"/>
          </p:cNvSpPr>
          <p:nvPr>
            <p:ph type="ctrTitle"/>
          </p:nvPr>
        </p:nvSpPr>
        <p:spPr>
          <a:xfrm>
            <a:off x="1524000" y="1584683"/>
            <a:ext cx="9144000" cy="2551829"/>
          </a:xfrm>
        </p:spPr>
        <p:txBody>
          <a:bodyPr anchor="ctr">
            <a:normAutofit/>
          </a:bodyPr>
          <a:lstStyle/>
          <a:p>
            <a:r>
              <a:rPr lang="en-US" sz="6600"/>
              <a:t>Cloud Firestore Examples</a:t>
            </a:r>
            <a:endParaRPr lang="he-IL" sz="6600"/>
          </a:p>
        </p:txBody>
      </p:sp>
    </p:spTree>
    <p:extLst>
      <p:ext uri="{BB962C8B-B14F-4D97-AF65-F5344CB8AC3E}">
        <p14:creationId xmlns:p14="http://schemas.microsoft.com/office/powerpoint/2010/main" val="25018050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402C012-8A01-8087-A69A-243458494EB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C7E0A2C-7C0A-4AAC-B3B0-6C12B2EBAE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51871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1"/>
            <a:ext cx="10999072" cy="539995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66C9D481-8133-09C6-CB06-9A8F871E894B}"/>
              </a:ext>
            </a:extLst>
          </p:cNvPr>
          <p:cNvSpPr>
            <a:spLocks noGrp="1"/>
          </p:cNvSpPr>
          <p:nvPr>
            <p:ph type="ctrTitle"/>
          </p:nvPr>
        </p:nvSpPr>
        <p:spPr>
          <a:xfrm>
            <a:off x="1524000" y="1248587"/>
            <a:ext cx="9144000" cy="2387600"/>
          </a:xfrm>
        </p:spPr>
        <p:txBody>
          <a:bodyPr>
            <a:normAutofit/>
          </a:bodyPr>
          <a:lstStyle/>
          <a:p>
            <a:pPr rtl="1"/>
            <a:r>
              <a:rPr lang="he-IL" sz="4000" dirty="0"/>
              <a:t>דוגמה 3:</a:t>
            </a:r>
            <a:br>
              <a:rPr lang="he-IL" sz="4000" dirty="0"/>
            </a:br>
            <a:r>
              <a:rPr lang="he-IL" sz="4000" dirty="0"/>
              <a:t>חיפוש חריגות בטווח זמן לפי קטגוריה + אתר/לקוח</a:t>
            </a:r>
            <a:br>
              <a:rPr lang="he-IL" sz="4000" dirty="0"/>
            </a:br>
            <a:r>
              <a:rPr lang="en-US" sz="4000" dirty="0"/>
              <a:t>(Technician)</a:t>
            </a:r>
            <a:endParaRPr lang="he-IL" sz="4000" dirty="0"/>
          </a:p>
        </p:txBody>
      </p:sp>
      <p:cxnSp>
        <p:nvCxnSpPr>
          <p:cNvPr id="16" name="Straight Connector 15">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29769"/>
            <a:ext cx="11000232"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57779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6EFDA3E-C636-CE1A-BD10-F2AC043EBD71}"/>
              </a:ext>
            </a:extLst>
          </p:cNvPr>
          <p:cNvSpPr>
            <a:spLocks noGrp="1"/>
          </p:cNvSpPr>
          <p:nvPr>
            <p:ph type="title"/>
          </p:nvPr>
        </p:nvSpPr>
        <p:spPr>
          <a:xfrm>
            <a:off x="1398745" y="404948"/>
            <a:ext cx="9236700" cy="1188950"/>
          </a:xfrm>
        </p:spPr>
        <p:txBody>
          <a:bodyPr anchor="b">
            <a:normAutofit/>
          </a:bodyPr>
          <a:lstStyle/>
          <a:p>
            <a:pPr algn="r" rtl="1"/>
            <a:r>
              <a:rPr lang="he-IL" sz="3800" dirty="0"/>
              <a:t>כוחן של שאילתות מורכבות </a:t>
            </a:r>
            <a:r>
              <a:rPr lang="en-US" sz="3800" dirty="0"/>
              <a:t>(</a:t>
            </a:r>
            <a:r>
              <a:rPr lang="en-US" sz="3800" dirty="0" err="1"/>
              <a:t>Compund</a:t>
            </a:r>
            <a:r>
              <a:rPr lang="en-US" sz="3800" dirty="0"/>
              <a:t> Queries)</a:t>
            </a:r>
            <a:endParaRPr lang="he-IL" sz="3800" dirty="0"/>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4C87EE9-BD9C-D930-B054-6CA31CF30963}"/>
              </a:ext>
            </a:extLst>
          </p:cNvPr>
          <p:cNvSpPr>
            <a:spLocks noGrp="1"/>
          </p:cNvSpPr>
          <p:nvPr>
            <p:ph idx="1"/>
          </p:nvPr>
        </p:nvSpPr>
        <p:spPr>
          <a:xfrm>
            <a:off x="793660" y="2599509"/>
            <a:ext cx="10143668" cy="3435531"/>
          </a:xfrm>
        </p:spPr>
        <p:txBody>
          <a:bodyPr anchor="ctr">
            <a:normAutofit/>
          </a:bodyPr>
          <a:lstStyle/>
          <a:p>
            <a:pPr algn="r" rtl="1"/>
            <a:r>
              <a:rPr lang="he-IL" sz="2400" b="1" dirty="0"/>
              <a:t>התרחיש והמשתמש:</a:t>
            </a:r>
            <a:r>
              <a:rPr lang="he-IL" sz="2400" dirty="0"/>
              <a:t> מערכת </a:t>
            </a:r>
            <a:r>
              <a:rPr lang="en-US" sz="2400" dirty="0"/>
              <a:t>IoT</a:t>
            </a:r>
            <a:r>
              <a:rPr lang="he-IL" sz="2400" dirty="0"/>
              <a:t> תעשייתית עם נתונים כמו טמפרטורה, רעידות והתראות </a:t>
            </a:r>
            <a:r>
              <a:rPr lang="en-US" sz="2400" dirty="0"/>
              <a:t>(temperature, vibration, alerts)</a:t>
            </a:r>
            <a:r>
              <a:rPr lang="he-IL" sz="2400" dirty="0"/>
              <a:t>. משתמש מסוג </a:t>
            </a:r>
            <a:r>
              <a:rPr lang="en-US" sz="2400" dirty="0"/>
              <a:t>Technician</a:t>
            </a:r>
            <a:r>
              <a:rPr lang="he-IL" sz="2400" dirty="0"/>
              <a:t> אחראי אך ורק על אתר ספציפי </a:t>
            </a:r>
            <a:r>
              <a:rPr lang="en-US" sz="2400" dirty="0"/>
              <a:t>(</a:t>
            </a:r>
            <a:r>
              <a:rPr lang="en-US" sz="2400" dirty="0" err="1"/>
              <a:t>sideId</a:t>
            </a:r>
            <a:r>
              <a:rPr lang="en-US" sz="2400" dirty="0"/>
              <a:t> = s1)</a:t>
            </a:r>
            <a:r>
              <a:rPr lang="he-IL" sz="2400" dirty="0"/>
              <a:t>.</a:t>
            </a:r>
          </a:p>
          <a:p>
            <a:pPr algn="r" rtl="1"/>
            <a:r>
              <a:rPr lang="he-IL" sz="2400" b="1" dirty="0"/>
              <a:t>השאילתה המבוקשת:</a:t>
            </a:r>
            <a:r>
              <a:rPr lang="he-IL" sz="2400" dirty="0"/>
              <a:t> מציאת "חריגות טמפרטורה" באתר </a:t>
            </a:r>
            <a:r>
              <a:rPr lang="en-US" sz="2400" dirty="0"/>
              <a:t>s1</a:t>
            </a:r>
            <a:r>
              <a:rPr lang="he-IL" sz="2400" dirty="0"/>
              <a:t>. כלומר, הבאת רשומות מקטגוריית </a:t>
            </a:r>
            <a:r>
              <a:rPr lang="en-US" sz="2400" dirty="0"/>
              <a:t>temperature</a:t>
            </a:r>
            <a:r>
              <a:rPr lang="he-IL" sz="2400" dirty="0"/>
              <a:t> בטווח תאריכים מסוים, שבהן הטמפרטורה גדולה או שווה ל-80, מסודרות לפי זמן.</a:t>
            </a:r>
          </a:p>
          <a:p>
            <a:pPr algn="r" rtl="1"/>
            <a:r>
              <a:rPr lang="he-IL" sz="2400" dirty="0"/>
              <a:t>היתרון של </a:t>
            </a:r>
            <a:r>
              <a:rPr lang="en-US" sz="2400" dirty="0" err="1"/>
              <a:t>Firestore</a:t>
            </a:r>
            <a:r>
              <a:rPr lang="he-IL" sz="2400" dirty="0"/>
              <a:t>: בניגוד ל- </a:t>
            </a:r>
            <a:r>
              <a:rPr lang="en-US" sz="2400" dirty="0"/>
              <a:t>RTDB</a:t>
            </a:r>
            <a:r>
              <a:rPr lang="he-IL" sz="2400" dirty="0"/>
              <a:t>, המערכת מאפשרת לשלב מספר תנאים יחד (אתר + קטגוריה + טווח זמן + סף חריגה), מה שמייצג תרחיש אמיתי של סינון לוגים עסקי.</a:t>
            </a:r>
          </a:p>
        </p:txBody>
      </p:sp>
    </p:spTree>
    <p:extLst>
      <p:ext uri="{BB962C8B-B14F-4D97-AF65-F5344CB8AC3E}">
        <p14:creationId xmlns:p14="http://schemas.microsoft.com/office/powerpoint/2010/main" val="37603152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A9BB82A-A341-C188-7809-E53D37B7EB47}"/>
              </a:ext>
            </a:extLst>
          </p:cNvPr>
          <p:cNvSpPr>
            <a:spLocks noGrp="1"/>
          </p:cNvSpPr>
          <p:nvPr>
            <p:ph type="title"/>
          </p:nvPr>
        </p:nvSpPr>
        <p:spPr>
          <a:xfrm>
            <a:off x="808638" y="386930"/>
            <a:ext cx="9236700" cy="1188950"/>
          </a:xfrm>
        </p:spPr>
        <p:txBody>
          <a:bodyPr anchor="b">
            <a:normAutofit/>
          </a:bodyPr>
          <a:lstStyle/>
          <a:p>
            <a:pPr algn="r" rtl="1"/>
            <a:r>
              <a:rPr lang="he-IL" sz="5400" dirty="0"/>
              <a:t>חוקי אינדקסים והעלמת מידע</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2D4A588-1440-C8C1-044D-7E1B73B65562}"/>
              </a:ext>
            </a:extLst>
          </p:cNvPr>
          <p:cNvSpPr>
            <a:spLocks noGrp="1"/>
          </p:cNvSpPr>
          <p:nvPr>
            <p:ph idx="1"/>
          </p:nvPr>
        </p:nvSpPr>
        <p:spPr>
          <a:xfrm>
            <a:off x="793660" y="2599509"/>
            <a:ext cx="10143668" cy="3435531"/>
          </a:xfrm>
        </p:spPr>
        <p:txBody>
          <a:bodyPr anchor="ctr">
            <a:normAutofit/>
          </a:bodyPr>
          <a:lstStyle/>
          <a:p>
            <a:pPr algn="r" rtl="1"/>
            <a:r>
              <a:rPr lang="he-IL" sz="2400" b="1" dirty="0"/>
              <a:t>מגבלה מרכזית:</a:t>
            </a:r>
            <a:r>
              <a:rPr lang="he-IL" sz="2400" dirty="0"/>
              <a:t> כדי שהשאילתה הזו תעבוד, </a:t>
            </a:r>
            <a:r>
              <a:rPr lang="en-US" sz="2400" dirty="0" err="1"/>
              <a:t>Firestore</a:t>
            </a:r>
            <a:r>
              <a:rPr lang="he-IL" sz="2400" dirty="0"/>
              <a:t> דורש שילוב מדויק בין חיפוש טווח </a:t>
            </a:r>
            <a:r>
              <a:rPr lang="en-US" sz="2400" dirty="0"/>
              <a:t>(range)</a:t>
            </a:r>
            <a:r>
              <a:rPr lang="he-IL" sz="2400" dirty="0"/>
              <a:t> למיון </a:t>
            </a:r>
            <a:r>
              <a:rPr lang="en-US" sz="2400" dirty="0"/>
              <a:t>(</a:t>
            </a:r>
            <a:r>
              <a:rPr lang="en-US" sz="2400" dirty="0" err="1"/>
              <a:t>orderBy</a:t>
            </a:r>
            <a:r>
              <a:rPr lang="en-US" sz="2400" dirty="0"/>
              <a:t>)</a:t>
            </a:r>
            <a:r>
              <a:rPr lang="he-IL" sz="2400" dirty="0"/>
              <a:t>. לעיתים קרובות נדרשת הגדרה מוקדמת של </a:t>
            </a:r>
            <a:r>
              <a:rPr lang="en-US" sz="2400" dirty="0"/>
              <a:t>Composite Index</a:t>
            </a:r>
            <a:r>
              <a:rPr lang="he-IL" sz="2400" dirty="0"/>
              <a:t> (אינדקס מורכב).</a:t>
            </a:r>
          </a:p>
          <a:p>
            <a:pPr algn="r" rtl="1"/>
            <a:r>
              <a:rPr lang="he-IL" sz="2400" dirty="0"/>
              <a:t>תקלות אופייניות (מכשולים נסתרים):</a:t>
            </a:r>
          </a:p>
          <a:p>
            <a:pPr lvl="1" algn="r" rtl="1"/>
            <a:r>
              <a:rPr lang="he-IL" dirty="0"/>
              <a:t>הודעת שגיאה מפורשת המבקשת לייצר אינדקס (נפוץ מאוד בזמן פיתוח).</a:t>
            </a:r>
          </a:p>
          <a:p>
            <a:pPr lvl="1" algn="r" rtl="1"/>
            <a:r>
              <a:rPr lang="he-IL" dirty="0"/>
              <a:t>התנהגות מסוכנת: אם למסמך מסוים חסר השדה </a:t>
            </a:r>
            <a:r>
              <a:rPr lang="en-US" dirty="0"/>
              <a:t>timestamp</a:t>
            </a:r>
            <a:r>
              <a:rPr lang="he-IL" dirty="0"/>
              <a:t> או </a:t>
            </a:r>
            <a:r>
              <a:rPr lang="en-US" dirty="0"/>
              <a:t>temp</a:t>
            </a:r>
            <a:r>
              <a:rPr lang="he-IL" dirty="0"/>
              <a:t>, הוא פשוט </a:t>
            </a:r>
            <a:r>
              <a:rPr lang="he-IL" b="1" dirty="0"/>
              <a:t>ייעלם</a:t>
            </a:r>
            <a:r>
              <a:rPr lang="he-IL" dirty="0"/>
              <a:t> מתוצאות השאילתה בגלל המיון לפי השדות האלו.</a:t>
            </a:r>
          </a:p>
        </p:txBody>
      </p:sp>
    </p:spTree>
    <p:extLst>
      <p:ext uri="{BB962C8B-B14F-4D97-AF65-F5344CB8AC3E}">
        <p14:creationId xmlns:p14="http://schemas.microsoft.com/office/powerpoint/2010/main" val="4272783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8B49F2A3-1F0F-B578-115A-70C78C7D8AA2}"/>
              </a:ext>
            </a:extLst>
          </p:cNvPr>
          <p:cNvSpPr txBox="1"/>
          <p:nvPr/>
        </p:nvSpPr>
        <p:spPr>
          <a:xfrm>
            <a:off x="762001" y="2551176"/>
            <a:ext cx="3962400" cy="3591207"/>
          </a:xfrm>
          <a:prstGeom prst="rect">
            <a:avLst/>
          </a:prstGeom>
        </p:spPr>
        <p:txBody>
          <a:bodyPr vert="horz" lIns="91440" tIns="45720" rIns="91440" bIns="45720" rtlCol="0">
            <a:normAutofit/>
          </a:bodyPr>
          <a:lstStyle/>
          <a:p>
            <a:pPr>
              <a:lnSpc>
                <a:spcPct val="90000"/>
              </a:lnSpc>
              <a:spcAft>
                <a:spcPts val="600"/>
              </a:spcAft>
            </a:pPr>
            <a:r>
              <a:rPr lang="en-US" sz="2000" dirty="0"/>
              <a:t>To the left we see how it fails before adding the complex index required for the query to work, after it inserted to the firebase console, we can see that the result have changed and the query is working as it should.</a:t>
            </a:r>
          </a:p>
        </p:txBody>
      </p:sp>
      <p:sp>
        <p:nvSpPr>
          <p:cNvPr id="17" name="Rectangle 16">
            <a:extLst>
              <a:ext uri="{FF2B5EF4-FFF2-40B4-BE49-F238E27FC236}">
                <a16:creationId xmlns:a16="http://schemas.microsoft.com/office/drawing/2014/main" id="{2AB11B05-5E59-5B88-D8DB-0E975DEAE4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64727" y="0"/>
            <a:ext cx="6927273" cy="6876532"/>
          </a:xfrm>
          <a:prstGeom prst="rect">
            <a:avLst/>
          </a:prstGeom>
          <a:solidFill>
            <a:schemeClr val="bg1">
              <a:lumMod val="95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ECCDE7D4-B3A1-E650-7073-11960563F8A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117308" y="871146"/>
            <a:ext cx="2637552" cy="5121457"/>
          </a:xfrm>
          <a:prstGeom prst="rect">
            <a:avLst/>
          </a:prstGeom>
        </p:spPr>
      </p:pic>
      <p:pic>
        <p:nvPicPr>
          <p:cNvPr id="9" name="Picture 8">
            <a:extLst>
              <a:ext uri="{FF2B5EF4-FFF2-40B4-BE49-F238E27FC236}">
                <a16:creationId xmlns:a16="http://schemas.microsoft.com/office/drawing/2014/main" id="{B25804B2-9067-21D8-0CB9-C7CC81DCFB3A}"/>
              </a:ext>
            </a:extLst>
          </p:cNvPr>
          <p:cNvPicPr>
            <a:picLocks noChangeAspect="1"/>
          </p:cNvPicPr>
          <p:nvPr/>
        </p:nvPicPr>
        <p:blipFill>
          <a:blip r:embed="rId3"/>
          <a:stretch>
            <a:fillRect/>
          </a:stretch>
        </p:blipFill>
        <p:spPr>
          <a:xfrm>
            <a:off x="8935278" y="1839434"/>
            <a:ext cx="2980078" cy="1311234"/>
          </a:xfrm>
          <a:prstGeom prst="rect">
            <a:avLst/>
          </a:prstGeom>
        </p:spPr>
      </p:pic>
      <p:pic>
        <p:nvPicPr>
          <p:cNvPr id="7" name="Picture 6">
            <a:extLst>
              <a:ext uri="{FF2B5EF4-FFF2-40B4-BE49-F238E27FC236}">
                <a16:creationId xmlns:a16="http://schemas.microsoft.com/office/drawing/2014/main" id="{D8917877-1C41-5206-8E6B-DA7C4B3F79BE}"/>
              </a:ext>
            </a:extLst>
          </p:cNvPr>
          <p:cNvPicPr>
            <a:picLocks noChangeAspect="1"/>
          </p:cNvPicPr>
          <p:nvPr/>
        </p:nvPicPr>
        <p:blipFill>
          <a:blip r:embed="rId4"/>
          <a:stretch>
            <a:fillRect/>
          </a:stretch>
        </p:blipFill>
        <p:spPr>
          <a:xfrm>
            <a:off x="8935278" y="3524333"/>
            <a:ext cx="1851202" cy="2468270"/>
          </a:xfrm>
          <a:prstGeom prst="rect">
            <a:avLst/>
          </a:prstGeom>
        </p:spPr>
      </p:pic>
    </p:spTree>
    <p:extLst>
      <p:ext uri="{BB962C8B-B14F-4D97-AF65-F5344CB8AC3E}">
        <p14:creationId xmlns:p14="http://schemas.microsoft.com/office/powerpoint/2010/main" val="31809687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F5BA556-23B8-EBAB-8AA1-6EAC818C0B0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095C1F4-AE7F-44E4-8693-40D3D68311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8734DDD3-F723-4DD3-8ABE-EC0B2AC87D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22324" y="-15978"/>
            <a:ext cx="7147352" cy="5876916"/>
            <a:chOff x="329184" y="-99107"/>
            <a:chExt cx="524256" cy="5876916"/>
          </a:xfrm>
        </p:grpSpPr>
        <p:cxnSp>
          <p:nvCxnSpPr>
            <p:cNvPr id="13" name="Straight Connector 12">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99107"/>
              <a:ext cx="524256" cy="563122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6" name="Rectangle 15">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1055718"/>
            <a:ext cx="10999072" cy="335834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8D647C2E-6898-AB5D-11FB-66E82B4990DF}"/>
              </a:ext>
            </a:extLst>
          </p:cNvPr>
          <p:cNvSpPr>
            <a:spLocks noGrp="1"/>
          </p:cNvSpPr>
          <p:nvPr>
            <p:ph type="ctrTitle"/>
          </p:nvPr>
        </p:nvSpPr>
        <p:spPr>
          <a:xfrm>
            <a:off x="1524000" y="1584683"/>
            <a:ext cx="9144000" cy="2551829"/>
          </a:xfrm>
        </p:spPr>
        <p:txBody>
          <a:bodyPr anchor="ctr">
            <a:normAutofit/>
          </a:bodyPr>
          <a:lstStyle/>
          <a:p>
            <a:pPr rtl="1"/>
            <a:r>
              <a:rPr lang="he-IL" sz="4600" dirty="0"/>
              <a:t>דוגמה 4:</a:t>
            </a:r>
            <a:br>
              <a:rPr lang="he-IL" sz="4600" dirty="0"/>
            </a:br>
            <a:r>
              <a:rPr lang="he-IL" sz="4600" dirty="0" err="1"/>
              <a:t>דשבורד</a:t>
            </a:r>
            <a:r>
              <a:rPr lang="he-IL" sz="4600" dirty="0"/>
              <a:t> סטטיסטיקות לפי קטגוריה בטווח זמן</a:t>
            </a:r>
            <a:br>
              <a:rPr lang="he-IL" sz="4600" dirty="0"/>
            </a:br>
            <a:r>
              <a:rPr lang="en-US" sz="4600" dirty="0"/>
              <a:t>(Admin) + Hourly breakdown</a:t>
            </a:r>
            <a:endParaRPr lang="he-IL" sz="4600" dirty="0"/>
          </a:p>
        </p:txBody>
      </p:sp>
    </p:spTree>
    <p:extLst>
      <p:ext uri="{BB962C8B-B14F-4D97-AF65-F5344CB8AC3E}">
        <p14:creationId xmlns:p14="http://schemas.microsoft.com/office/powerpoint/2010/main" val="6341474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2BDFF1-15F7-557B-7FB0-A1F63582596D}"/>
              </a:ext>
            </a:extLst>
          </p:cNvPr>
          <p:cNvSpPr>
            <a:spLocks noGrp="1"/>
          </p:cNvSpPr>
          <p:nvPr>
            <p:ph type="title"/>
          </p:nvPr>
        </p:nvSpPr>
        <p:spPr>
          <a:xfrm>
            <a:off x="808638" y="386930"/>
            <a:ext cx="9236700" cy="1188950"/>
          </a:xfrm>
        </p:spPr>
        <p:txBody>
          <a:bodyPr anchor="b">
            <a:normAutofit/>
          </a:bodyPr>
          <a:lstStyle/>
          <a:p>
            <a:pPr algn="r" rtl="1"/>
            <a:r>
              <a:rPr lang="he-IL" sz="5400" dirty="0"/>
              <a:t>ספירה וסטטיסטיקה מול קיבוץ נתונים</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6AD204A-2AF5-56D4-C613-53FF544C5FD8}"/>
              </a:ext>
            </a:extLst>
          </p:cNvPr>
          <p:cNvSpPr>
            <a:spLocks noGrp="1"/>
          </p:cNvSpPr>
          <p:nvPr>
            <p:ph idx="1"/>
          </p:nvPr>
        </p:nvSpPr>
        <p:spPr>
          <a:xfrm>
            <a:off x="793660" y="2599509"/>
            <a:ext cx="10143668" cy="3435531"/>
          </a:xfrm>
        </p:spPr>
        <p:txBody>
          <a:bodyPr anchor="ctr">
            <a:normAutofit/>
          </a:bodyPr>
          <a:lstStyle/>
          <a:p>
            <a:pPr algn="r" rtl="1"/>
            <a:r>
              <a:rPr lang="he-IL" sz="2400" b="1" dirty="0"/>
              <a:t>התרחיש והמשתמש:</a:t>
            </a:r>
            <a:r>
              <a:rPr lang="he-IL" sz="2400" dirty="0"/>
              <a:t> מערכת עסקית המקבלת נתונים כל דקה (טמפרטורה, לחות, אנרגיה). מנהל המערכת </a:t>
            </a:r>
            <a:r>
              <a:rPr lang="en-US" sz="2400" dirty="0"/>
              <a:t>(Admin)</a:t>
            </a:r>
            <a:r>
              <a:rPr lang="he-IL" sz="2400" dirty="0"/>
              <a:t> דורש </a:t>
            </a:r>
            <a:r>
              <a:rPr lang="he-IL" sz="2400" dirty="0" err="1"/>
              <a:t>דשבורד</a:t>
            </a:r>
            <a:r>
              <a:rPr lang="he-IL" sz="2400" dirty="0"/>
              <a:t> המציג את כמות המדידות לכל קטגוריה, ממוצעים/מינימום/מקסימום, וגרף המציג "ממוצע לכל שעה" עבור טמפרטורה במהלך היום.</a:t>
            </a:r>
          </a:p>
          <a:p>
            <a:pPr algn="r" rtl="1"/>
            <a:r>
              <a:rPr lang="he-IL" sz="2400" b="1" dirty="0"/>
              <a:t>מה עובד קל:</a:t>
            </a:r>
            <a:r>
              <a:rPr lang="he-IL" sz="2400" dirty="0"/>
              <a:t> </a:t>
            </a:r>
            <a:r>
              <a:rPr lang="en-US" sz="2400" dirty="0" err="1"/>
              <a:t>Firestore</a:t>
            </a:r>
            <a:r>
              <a:rPr lang="he-IL" sz="2400" dirty="0"/>
              <a:t> יודע לעשות פעולות </a:t>
            </a:r>
            <a:r>
              <a:rPr lang="en-US" sz="2400" dirty="0"/>
              <a:t>Aggregation</a:t>
            </a:r>
            <a:r>
              <a:rPr lang="he-IL" sz="2400" dirty="0"/>
              <a:t> בסיסיות לטווח זמן (כמו </a:t>
            </a:r>
            <a:r>
              <a:rPr lang="en-US" sz="2400" dirty="0"/>
              <a:t>count</a:t>
            </a:r>
            <a:r>
              <a:rPr lang="he-IL" sz="2400" dirty="0"/>
              <a:t> ו- </a:t>
            </a:r>
            <a:r>
              <a:rPr lang="en-US" sz="2400" dirty="0"/>
              <a:t>avg</a:t>
            </a:r>
            <a:r>
              <a:rPr lang="he-IL" sz="2400" dirty="0"/>
              <a:t>), שזה שימושי מאוד ליצירת </a:t>
            </a:r>
            <a:r>
              <a:rPr lang="he-IL" sz="2400" dirty="0" err="1"/>
              <a:t>דשבורד</a:t>
            </a:r>
            <a:r>
              <a:rPr lang="he-IL" sz="2400" dirty="0"/>
              <a:t>.</a:t>
            </a:r>
          </a:p>
        </p:txBody>
      </p:sp>
    </p:spTree>
    <p:extLst>
      <p:ext uri="{BB962C8B-B14F-4D97-AF65-F5344CB8AC3E}">
        <p14:creationId xmlns:p14="http://schemas.microsoft.com/office/powerpoint/2010/main" val="41065632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473530F-7F86-12BD-44BE-7263793110FC}"/>
              </a:ext>
            </a:extLst>
          </p:cNvPr>
          <p:cNvSpPr>
            <a:spLocks noGrp="1"/>
          </p:cNvSpPr>
          <p:nvPr>
            <p:ph type="title"/>
          </p:nvPr>
        </p:nvSpPr>
        <p:spPr>
          <a:xfrm>
            <a:off x="808638" y="386930"/>
            <a:ext cx="9236700" cy="1188950"/>
          </a:xfrm>
        </p:spPr>
        <p:txBody>
          <a:bodyPr anchor="b">
            <a:normAutofit/>
          </a:bodyPr>
          <a:lstStyle/>
          <a:p>
            <a:pPr algn="r" rtl="1"/>
            <a:r>
              <a:rPr lang="he-IL" sz="5000" dirty="0"/>
              <a:t>שבירת המגבלה – אין </a:t>
            </a:r>
            <a:r>
              <a:rPr lang="en-US" sz="5000" dirty="0"/>
              <a:t>Group-By</a:t>
            </a:r>
            <a:r>
              <a:rPr lang="he-IL" sz="5000" dirty="0"/>
              <a:t> אמיתי</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B07EE15-B16E-5A0D-BDFE-7C3BE61B6AF9}"/>
              </a:ext>
            </a:extLst>
          </p:cNvPr>
          <p:cNvSpPr>
            <a:spLocks noGrp="1"/>
          </p:cNvSpPr>
          <p:nvPr>
            <p:ph idx="1"/>
          </p:nvPr>
        </p:nvSpPr>
        <p:spPr>
          <a:xfrm>
            <a:off x="793660" y="2599509"/>
            <a:ext cx="10143668" cy="3435531"/>
          </a:xfrm>
        </p:spPr>
        <p:txBody>
          <a:bodyPr anchor="ctr">
            <a:normAutofit/>
          </a:bodyPr>
          <a:lstStyle/>
          <a:p>
            <a:pPr algn="r" rtl="1"/>
            <a:r>
              <a:rPr lang="he-IL" sz="2200" b="1" dirty="0"/>
              <a:t>המגבלה המרכזית:</a:t>
            </a:r>
            <a:r>
              <a:rPr lang="he-IL" sz="2200" dirty="0"/>
              <a:t> "ממוצע לכל שעה" אינו נתמך מובנית. אין ל-</a:t>
            </a:r>
            <a:r>
              <a:rPr lang="en-US" sz="2200" dirty="0" err="1"/>
              <a:t>Firestore</a:t>
            </a:r>
            <a:r>
              <a:rPr lang="en-US" sz="2200" dirty="0"/>
              <a:t> </a:t>
            </a:r>
            <a:r>
              <a:rPr lang="he-IL" sz="2200" dirty="0"/>
              <a:t> יכולת </a:t>
            </a:r>
            <a:r>
              <a:rPr lang="en-US" sz="2200" dirty="0"/>
              <a:t>group-by</a:t>
            </a:r>
            <a:r>
              <a:rPr lang="he-IL" sz="2200" dirty="0"/>
              <a:t> כמו במסדי </a:t>
            </a:r>
            <a:r>
              <a:rPr lang="en-US" sz="2200" dirty="0"/>
              <a:t>SQL</a:t>
            </a:r>
            <a:r>
              <a:rPr lang="he-IL" sz="2200" dirty="0"/>
              <a:t> על קריאות גולמיות מתוך שאילתה אחת.</a:t>
            </a:r>
          </a:p>
          <a:p>
            <a:pPr algn="r" rtl="1"/>
            <a:r>
              <a:rPr lang="he-IL" sz="2200" dirty="0"/>
              <a:t>הפתרונות והתקלות:</a:t>
            </a:r>
          </a:p>
          <a:p>
            <a:pPr lvl="1" algn="r" rtl="1"/>
            <a:r>
              <a:rPr lang="he-IL" sz="2200" dirty="0"/>
              <a:t>כדי לפתור זאת, רוב המערכות נדרשות לייצר "מסמכי סיכום" </a:t>
            </a:r>
            <a:r>
              <a:rPr lang="en-US" sz="2200" dirty="0"/>
              <a:t>(rollup documents)</a:t>
            </a:r>
            <a:r>
              <a:rPr lang="he-IL" sz="2200" dirty="0"/>
              <a:t> לפי שעה, או למשוך את כל הנתונים ולחשב בצד הלקוח.</a:t>
            </a:r>
          </a:p>
          <a:p>
            <a:pPr lvl="1" algn="r" rtl="1"/>
            <a:r>
              <a:rPr lang="he-IL" sz="2200" dirty="0"/>
              <a:t>תחזוקת ה- </a:t>
            </a:r>
            <a:r>
              <a:rPr lang="en-US" sz="2200" dirty="0"/>
              <a:t>rollups</a:t>
            </a:r>
            <a:r>
              <a:rPr lang="he-IL" sz="2200" dirty="0"/>
              <a:t> דורשת מאמץ לשמור על עקביות בין הנתונים הגולמיים לנתוני הסטטיסטיקה.</a:t>
            </a:r>
          </a:p>
          <a:p>
            <a:pPr lvl="1" algn="r" rtl="1"/>
            <a:r>
              <a:rPr lang="he-IL" sz="2200" b="1" dirty="0"/>
              <a:t>תקלה אופיינית להדגמה:</a:t>
            </a:r>
            <a:r>
              <a:rPr lang="he-IL" sz="2200" dirty="0"/>
              <a:t> ניסיון לבצע </a:t>
            </a:r>
            <a:r>
              <a:rPr lang="en-US" sz="2200" dirty="0"/>
              <a:t>“group by hour”</a:t>
            </a:r>
            <a:r>
              <a:rPr lang="he-IL" sz="2200" dirty="0"/>
              <a:t> על ידי משיכת כל המסמכים למכשיר וחישוב ידני אינו שאילתה אמיתית, וזו בדיוק הדרך להבליט את מגבלת יכולות ה- </a:t>
            </a:r>
            <a:r>
              <a:rPr lang="en-US" sz="2200" dirty="0"/>
              <a:t>Query</a:t>
            </a:r>
            <a:r>
              <a:rPr lang="he-IL" sz="2200" dirty="0"/>
              <a:t> של המערכת.</a:t>
            </a:r>
          </a:p>
        </p:txBody>
      </p:sp>
    </p:spTree>
    <p:extLst>
      <p:ext uri="{BB962C8B-B14F-4D97-AF65-F5344CB8AC3E}">
        <p14:creationId xmlns:p14="http://schemas.microsoft.com/office/powerpoint/2010/main" val="21171455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154</TotalTime>
  <Words>847</Words>
  <Application>Microsoft Office PowerPoint</Application>
  <PresentationFormat>Widescreen</PresentationFormat>
  <Paragraphs>48</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Aptos</vt:lpstr>
      <vt:lpstr>Aptos Display</vt:lpstr>
      <vt:lpstr>Arial</vt:lpstr>
      <vt:lpstr>Office Theme</vt:lpstr>
      <vt:lpstr>Project 1</vt:lpstr>
      <vt:lpstr>Firebase Realtime Database Examples</vt:lpstr>
      <vt:lpstr>דוגמה 1: לוגים לפי קטגוריה + חיישן + טווח זמן (Viewer)</vt:lpstr>
      <vt:lpstr>תיאור המערכת והדרישה</vt:lpstr>
      <vt:lpstr>מגבלות ותקלות נפוצות בגישה זו</vt:lpstr>
      <vt:lpstr>דוגמה 2: כל החיישנים בטווח זמן לפי קטגוריה Admin + Denormalization</vt:lpstr>
      <vt:lpstr>התרחיש והאתגר הרוחבי</vt:lpstr>
      <vt:lpstr>הפתרון (Denormalization) והסכנות שבו</vt:lpstr>
      <vt:lpstr>Cloud Firestore Examples</vt:lpstr>
      <vt:lpstr>דוגמה 3: חיפוש חריגות בטווח זמן לפי קטגוריה + אתר/לקוח (Technician)</vt:lpstr>
      <vt:lpstr>כוחן של שאילתות מורכבות (Compund Queries)</vt:lpstr>
      <vt:lpstr>חוקי אינדקסים והעלמת מידע</vt:lpstr>
      <vt:lpstr>PowerPoint Presentation</vt:lpstr>
      <vt:lpstr>דוגמה 4: דשבורד סטטיסטיקות לפי קטגוריה בטווח זמן (Admin) + Hourly breakdown</vt:lpstr>
      <vt:lpstr>ספירה וסטטיסטיקה מול קיבוץ נתונים</vt:lpstr>
      <vt:lpstr>שבירת המגבלה – אין Group-By אמיתי</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Omar Mahamid</dc:creator>
  <cp:lastModifiedBy>Omar Mahamid</cp:lastModifiedBy>
  <cp:revision>115</cp:revision>
  <dcterms:created xsi:type="dcterms:W3CDTF">2026-02-28T03:54:43Z</dcterms:created>
  <dcterms:modified xsi:type="dcterms:W3CDTF">2026-03-01T08:05:48Z</dcterms:modified>
</cp:coreProperties>
</file>